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71" r:id="rId4"/>
    <p:sldId id="267" r:id="rId5"/>
    <p:sldId id="272" r:id="rId6"/>
    <p:sldId id="273" r:id="rId7"/>
    <p:sldId id="274" r:id="rId8"/>
    <p:sldId id="275" r:id="rId9"/>
    <p:sldId id="276" r:id="rId10"/>
    <p:sldId id="277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67"/>
  </p:normalViewPr>
  <p:slideViewPr>
    <p:cSldViewPr snapToGrid="0">
      <p:cViewPr>
        <p:scale>
          <a:sx n="151" d="100"/>
          <a:sy n="151" d="100"/>
        </p:scale>
        <p:origin x="36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6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F508B-2D31-DC4A-FC2E-66A9E549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F3195-E571-6443-8BC3-85FA3D5F2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5566D-7F3B-CD27-218A-4486A7D430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EA59A8C-DFD1-462C-B94E-40569A5CDF0F}" type="slidenum">
              <a:t>1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9167-B127-049A-DE8F-C5CC5F6B4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CED57-C7D5-9515-6C18-86EC1A566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4F71D-025D-A1F4-065C-6F686D6C96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06DC8997-AE77-4F37-B642-FB25EACB840C}" type="slidenum">
              <a:t>2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B3F90-BCE4-00FB-FFF3-465B806C5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1FC06-2905-F75C-2922-FDDED49D9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4D856-D037-D04A-38C3-FDE1EAFC97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3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DC02-F1CD-3143-5C0E-B66069743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56332-F2AF-4F26-B7AC-1F2034869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8D15-76AB-B1D1-B462-6EAEDB33AE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4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EED5-596A-8281-6376-EF201A72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2775C-C6C4-BB74-DE68-247770ACD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BFD66-1A0F-A042-BE74-4D9196EBA3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31908-3EE0-0C4A-B675-2573FDA2C0F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5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79566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7D81-DF5B-6D80-E805-CA2AE217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FD662-ED83-603A-2816-2804A9831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F5D6F-2D1C-F1D9-8B2D-126C567B2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BBA73-871F-47B7-4DFE-9122662F3D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6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09864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A6BF3-21CC-3B0A-8929-923A36D4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8FF03-D9DA-14F1-145C-F1811FDE9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EEAB3-BC46-0B6B-F1B5-C9DF1ED42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FE64A-B93B-FAF0-8D1E-810431239EA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7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83108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AE24E-E196-6787-3C21-B087991A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AF56D-0335-4BDA-D0EB-FD53F9235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96A16-27C9-D681-F626-F0D43A47A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85099-DA62-BEB3-EC20-0D24A13D1E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8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46052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3897-C29C-3BEA-0B62-17619AEC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CEBC4-7148-16FF-4375-8EBB2B576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B11A9-77EC-2D1D-CD5F-5ED6776210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17BED-D9D3-A4C5-136B-0F85ABCBD7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9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16519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15F5-FB46-7AF4-2F9C-18EB6F67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05C0C-EBE5-E3AB-1FE1-D1E1A3E09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92A9A-9FE4-D6C4-0165-DDA8387479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E0730-7CD6-BFF6-1E62-6C59FCA46F2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10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88713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9655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2D7631D-40A5-FAE8-23AF-EFF18130935D}"/>
              </a:ext>
            </a:extLst>
          </p:cNvPr>
          <p:cNvSpPr/>
          <p:nvPr/>
        </p:nvSpPr>
        <p:spPr>
          <a:xfrm>
            <a:off x="308271" y="190496"/>
            <a:ext cx="2265160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3875BD8-8CD2-1070-065E-183A2F1DBA89}"/>
              </a:ext>
            </a:extLst>
          </p:cNvPr>
          <p:cNvSpPr/>
          <p:nvPr/>
        </p:nvSpPr>
        <p:spPr>
          <a:xfrm>
            <a:off x="2044199" y="2268196"/>
            <a:ext cx="5055602" cy="12573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TN </a:t>
            </a:r>
            <a:r>
              <a:rPr lang="en-US" sz="4500" b="1" kern="0" spc="-24" dirty="0" err="1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CyberTech</a:t>
            </a: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 Bank Website</a:t>
            </a: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 pitchFamily="34"/>
              </a:rPr>
              <a:t> Report</a:t>
            </a:r>
          </a:p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kern="0" spc="-24" dirty="0">
              <a:solidFill>
                <a:srgbClr val="0E0E0E"/>
              </a:solidFill>
              <a:latin typeface="Fraunces"/>
              <a:ea typeface="Fraunces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8E2CE82-45ED-73D7-C1A8-FA1131417A1D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</a:rPr>
              <a:t>03 March  2026</a:t>
            </a:r>
            <a:endParaRPr lang="en-US" sz="800" b="0" i="0" u="none" strike="noStrike" kern="0" cap="none" spc="-12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1026" name="Picture 2" descr="TN CyberTech Bank">
            <a:extLst>
              <a:ext uri="{FF2B5EF4-FFF2-40B4-BE49-F238E27FC236}">
                <a16:creationId xmlns:a16="http://schemas.microsoft.com/office/drawing/2014/main" id="{0F11DA85-AC77-12D6-8D91-C14AFEF6B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439" y="884097"/>
            <a:ext cx="2625065" cy="92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18104F7-13E0-58A5-16B9-0874848C6F23}"/>
              </a:ext>
            </a:extLst>
          </p:cNvPr>
          <p:cNvSpPr/>
          <p:nvPr/>
        </p:nvSpPr>
        <p:spPr>
          <a:xfrm>
            <a:off x="4519440" y="545947"/>
            <a:ext cx="4281485" cy="4190521"/>
          </a:xfrm>
          <a:custGeom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237862" tIns="494717" rIns="237862" bIns="49471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19E90F2-7F73-FB8E-0821-96926623D564}"/>
              </a:ext>
            </a:extLst>
          </p:cNvPr>
          <p:cNvSpPr/>
          <p:nvPr/>
        </p:nvSpPr>
        <p:spPr>
          <a:xfrm>
            <a:off x="483991" y="838203"/>
            <a:ext cx="3524253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Site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EE2288C-6B85-E124-9BC1-F40B6AE0235E}"/>
              </a:ext>
            </a:extLst>
          </p:cNvPr>
          <p:cNvSpPr/>
          <p:nvPr/>
        </p:nvSpPr>
        <p:spPr>
          <a:xfrm>
            <a:off x="308271" y="190496"/>
            <a:ext cx="392924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65BCA3-0016-2995-8B52-76AADFF0DC89}"/>
              </a:ext>
            </a:extLst>
          </p:cNvPr>
          <p:cNvSpPr/>
          <p:nvPr/>
        </p:nvSpPr>
        <p:spPr>
          <a:xfrm>
            <a:off x="624908" y="1567510"/>
            <a:ext cx="3625307" cy="21481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The </a:t>
            </a: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large line chart on the right displays the key metrics for the 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TN </a:t>
            </a:r>
            <a:r>
              <a:rPr lang="en-US" sz="1100" kern="0" dirty="0" err="1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CyberTech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 Bank </a:t>
            </a: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website from 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the day we went live.</a:t>
            </a:r>
            <a:endParaRPr lang="en-US" sz="1100" b="0" i="0" u="none" strike="noStrike" kern="0" cap="none" spc="0" baseline="0" dirty="0">
              <a:solidFill>
                <a:srgbClr val="0E0E0E"/>
              </a:solidFill>
              <a:uFillTx/>
              <a:latin typeface="DM San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It shows: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 pitchFamily="2"/>
            </a:endParaRP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Total </a:t>
            </a: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 2.7K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visited the site.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Returning 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 479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returned back to browse the website.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Average Engagement Time :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spent an average of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1m 13s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seconds on the site.</a:t>
            </a:r>
          </a:p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FB7A3E7-6CEF-BB3B-119B-0A5FA6E39D5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kern="0" spc="-12" dirty="0">
              <a:solidFill>
                <a:srgbClr val="000000"/>
              </a:solidFill>
              <a:latin typeface="DM Sans"/>
              <a:ea typeface="DM Sans" pitchFamily="34"/>
              <a:cs typeface="DM Sans" pitchFamily="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E5F506-8DAD-8094-3676-526F111FB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293" y="1420481"/>
            <a:ext cx="4045778" cy="22952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EBF2FB8-D023-1008-8219-5028C68E5ACA}"/>
              </a:ext>
            </a:extLst>
          </p:cNvPr>
          <p:cNvSpPr/>
          <p:nvPr/>
        </p:nvSpPr>
        <p:spPr>
          <a:xfrm>
            <a:off x="306718" y="1853710"/>
            <a:ext cx="8309802" cy="3151205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179365-AF2E-E64F-7EEA-4B75CB3EA338}"/>
              </a:ext>
            </a:extLst>
          </p:cNvPr>
          <p:cNvSpPr/>
          <p:nvPr/>
        </p:nvSpPr>
        <p:spPr>
          <a:xfrm>
            <a:off x="475030" y="361431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Pages Sessions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9AE8A4-967B-A454-AD61-1A99DD7B5D67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51C95-A108-2060-5F33-EF64290A9256}"/>
              </a:ext>
            </a:extLst>
          </p:cNvPr>
          <p:cNvSpPr/>
          <p:nvPr/>
        </p:nvSpPr>
        <p:spPr>
          <a:xfrm>
            <a:off x="475030" y="833927"/>
            <a:ext cx="7775198" cy="89018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b="1" dirty="0"/>
              <a:t>15,883 total page views</a:t>
            </a:r>
            <a:r>
              <a:rPr lang="en-ZW" sz="1050" dirty="0"/>
              <a:t> were recorded from </a:t>
            </a:r>
            <a:r>
              <a:rPr lang="en-ZW" sz="1050" b="1" dirty="0"/>
              <a:t>2,686 active users</a:t>
            </a:r>
            <a:r>
              <a:rPr lang="en-ZW" sz="105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dirty="0"/>
              <a:t>Users viewed an average of </a:t>
            </a:r>
            <a:r>
              <a:rPr lang="en-ZW" sz="1050" b="1" dirty="0"/>
              <a:t>5.91 pages per session</a:t>
            </a:r>
            <a:r>
              <a:rPr lang="en-ZW" sz="105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dirty="0"/>
              <a:t>The </a:t>
            </a:r>
            <a:r>
              <a:rPr lang="en-ZW" sz="1050" b="1" dirty="0"/>
              <a:t>homepage ( / ) received the highest traffic</a:t>
            </a:r>
            <a:r>
              <a:rPr lang="en-ZW" sz="1050" dirty="0"/>
              <a:t>, accounting for </a:t>
            </a:r>
            <a:r>
              <a:rPr lang="en-ZW" sz="1050" b="1" dirty="0"/>
              <a:t>58.98% of all views</a:t>
            </a:r>
            <a:r>
              <a:rPr lang="en-ZW" sz="105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dirty="0"/>
              <a:t>The </a:t>
            </a:r>
            <a:r>
              <a:rPr lang="en-ZW" sz="1050" b="1" dirty="0"/>
              <a:t>About page</a:t>
            </a:r>
            <a:r>
              <a:rPr lang="en-ZW" sz="1050" dirty="0"/>
              <a:t> is the second most visited page, showing strong interest in company information.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b="1" dirty="0"/>
              <a:t>Mobile Banking pages</a:t>
            </a:r>
            <a:r>
              <a:rPr lang="en-ZW" sz="1050" dirty="0"/>
              <a:t> also received notable traffic, indicating interest in digital banking services.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dirty="0"/>
              <a:t>Average user engagement time was </a:t>
            </a:r>
            <a:r>
              <a:rPr lang="en-ZW" sz="1050" b="1" dirty="0"/>
              <a:t>1 minute 13 seconds</a:t>
            </a:r>
            <a:r>
              <a:rPr lang="en-ZW" sz="1050" dirty="0"/>
              <a:t>, showing steady interaction with the site.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5DDBF73-7EBA-B55E-7FA6-F822D573F6C1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85D0C4-17B6-6507-65DE-A7F07DE3C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189" y="1853709"/>
            <a:ext cx="5058660" cy="3151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7F9DD7-5BF0-0C35-9A89-B0F9E2B79D6A}"/>
              </a:ext>
            </a:extLst>
          </p:cNvPr>
          <p:cNvSpPr/>
          <p:nvPr/>
        </p:nvSpPr>
        <p:spPr>
          <a:xfrm>
            <a:off x="285751" y="200652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A0AF96F-5B9F-CE63-DDC4-BC0E9F604848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330E8B8-0C39-5195-DBBD-F0818214B9E0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D0FAA-1BED-8177-1FAA-FDFB07D71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13" y="705041"/>
            <a:ext cx="8537374" cy="4247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5CC7E-57DC-A273-8B89-5B633565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77448E-6A72-7595-65B9-F6747E159E72}"/>
              </a:ext>
            </a:extLst>
          </p:cNvPr>
          <p:cNvSpPr/>
          <p:nvPr/>
        </p:nvSpPr>
        <p:spPr>
          <a:xfrm>
            <a:off x="308271" y="72690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kern="0" spc="-24" dirty="0">
                <a:solidFill>
                  <a:srgbClr val="0E0E0E"/>
                </a:solidFill>
                <a:latin typeface="Fraunces" pitchFamily="34"/>
                <a:ea typeface="Fraunces" pitchFamily="34"/>
                <a:cs typeface="Fraunces" pitchFamily="34"/>
              </a:rPr>
              <a:t>Tech</a:t>
            </a: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 Overview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50D7885-E7C9-313B-9FF8-7851862B3026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4D66E27-8929-B10D-089A-CE81B59024C2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81728-7D01-81F0-91F9-3F7443AF8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78" y="473066"/>
            <a:ext cx="7689645" cy="46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9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4B533-66EC-EE56-6E93-C121039B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312A595-90A6-6C69-DC32-F6DBA217DC75}"/>
              </a:ext>
            </a:extLst>
          </p:cNvPr>
          <p:cNvSpPr/>
          <p:nvPr/>
        </p:nvSpPr>
        <p:spPr>
          <a:xfrm>
            <a:off x="2624667" y="123886"/>
            <a:ext cx="6460209" cy="4956114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925A54-4B82-106F-D2FB-EF6773C447D8}"/>
              </a:ext>
            </a:extLst>
          </p:cNvPr>
          <p:cNvSpPr/>
          <p:nvPr/>
        </p:nvSpPr>
        <p:spPr>
          <a:xfrm>
            <a:off x="59124" y="370596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Traffic Sources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D21B3C-73F7-F88E-3041-C1EA0247DBFE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FFE0025-ABB7-AD24-62C8-9FEC579ADE53}"/>
              </a:ext>
            </a:extLst>
          </p:cNvPr>
          <p:cNvSpPr/>
          <p:nvPr/>
        </p:nvSpPr>
        <p:spPr>
          <a:xfrm>
            <a:off x="59124" y="833927"/>
            <a:ext cx="2463943" cy="21209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r>
              <a:rPr lang="en-ZW" sz="1050" b="1" dirty="0"/>
              <a:t>Paid Social</a:t>
            </a:r>
            <a:r>
              <a:rPr lang="en-ZW" sz="1050" dirty="0"/>
              <a:t> is driving the bulk of your traffic (56%), but with a very low average engagement time of just </a:t>
            </a:r>
            <a:r>
              <a:rPr lang="en-ZW" sz="1050" b="1" dirty="0"/>
              <a:t>16 seconds</a:t>
            </a:r>
            <a:r>
              <a:rPr lang="en-ZW" sz="1050" dirty="0"/>
              <a:t>, suggesting these users aren't finding what they need. In contrast, </a:t>
            </a:r>
            <a:r>
              <a:rPr lang="en-ZW" sz="1050" b="1" dirty="0"/>
              <a:t>Referral</a:t>
            </a:r>
            <a:r>
              <a:rPr lang="en-ZW" sz="1050" dirty="0"/>
              <a:t> traffic is your highest-performing channel; despite having fewer users, it accounts for over </a:t>
            </a:r>
            <a:r>
              <a:rPr lang="en-ZW" sz="1050" b="1" dirty="0"/>
              <a:t>52% of all site events</a:t>
            </a:r>
            <a:r>
              <a:rPr lang="en-ZW" sz="1050" dirty="0"/>
              <a:t> and keeps people on the site for over 3 minutes. Essentially, you are successfully reaching new people through ads, but your most valuable, engaged actions are coming from external site links and organic searches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D1923E1-D66F-8941-7066-69022542BB41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4FDD6E-A940-1949-48B2-3EDFD3443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852" y="941876"/>
            <a:ext cx="6354024" cy="389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8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F4216-BBA7-69D1-A025-19E6F312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69F1EE1-6F27-FEFB-6906-C4D042AC23B0}"/>
              </a:ext>
            </a:extLst>
          </p:cNvPr>
          <p:cNvSpPr/>
          <p:nvPr/>
        </p:nvSpPr>
        <p:spPr>
          <a:xfrm>
            <a:off x="2624667" y="123886"/>
            <a:ext cx="6460209" cy="4956114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2D6C02-2476-6069-D321-0730765171B5}"/>
              </a:ext>
            </a:extLst>
          </p:cNvPr>
          <p:cNvSpPr/>
          <p:nvPr/>
        </p:nvSpPr>
        <p:spPr>
          <a:xfrm>
            <a:off x="59124" y="370596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Events Overview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D7BC2B-4266-8373-87F0-164758A5431D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FBA4EF0-29EC-26FA-89B0-5F16011AC0D5}"/>
              </a:ext>
            </a:extLst>
          </p:cNvPr>
          <p:cNvSpPr/>
          <p:nvPr/>
        </p:nvSpPr>
        <p:spPr>
          <a:xfrm>
            <a:off x="59124" y="833927"/>
            <a:ext cx="2463943" cy="21209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dirty="0"/>
              <a:t>Page Views and Scrolls account for </a:t>
            </a:r>
            <a:r>
              <a:rPr lang="en-ZW" sz="1050" b="1" dirty="0"/>
              <a:t>over 60% of total activity</a:t>
            </a:r>
            <a:endParaRPr lang="en-ZW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b="1" dirty="0"/>
              <a:t>Most users start sessions and view pages</a:t>
            </a:r>
            <a:r>
              <a:rPr lang="en-ZW" sz="1050" dirty="0"/>
              <a:t>, but engagement is 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dirty="0"/>
              <a:t>Only </a:t>
            </a:r>
            <a:r>
              <a:rPr lang="en-ZW" sz="1050" b="1" dirty="0"/>
              <a:t>24% trigger a user engagement event</a:t>
            </a:r>
            <a:endParaRPr lang="en-ZW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b="1" dirty="0"/>
              <a:t>Less than 1% click on specific elements</a:t>
            </a:r>
            <a:endParaRPr lang="en-ZW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dirty="0"/>
              <a:t>Traffic shows </a:t>
            </a:r>
            <a:r>
              <a:rPr lang="en-ZW" sz="1050" b="1" dirty="0"/>
              <a:t>sharp spikes and drops</a:t>
            </a:r>
            <a:r>
              <a:rPr lang="en-ZW" sz="1050" dirty="0"/>
              <a:t>, indicating dependence on </a:t>
            </a:r>
            <a:r>
              <a:rPr lang="en-ZW" sz="1050" b="1" dirty="0"/>
              <a:t>campaigns or periodic updates</a:t>
            </a:r>
            <a:endParaRPr lang="en-ZW" sz="10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E999D07-48B4-56E2-80A2-84DDE2888237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FCD17-F41B-D158-EEFF-C82E3FA73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58" y="833927"/>
            <a:ext cx="6367418" cy="385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67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72C62-083D-4A06-866E-E82AB8769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E700A8-AE52-4017-8C7E-C20956F74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16C1EB-8D62-4BF0-92B5-02E6AE43B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514678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737E5B8-8F31-4942-B159-B213C4D6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F530DA-C7D1-4968-8F8A-8700C2BB2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546881"/>
            <a:ext cx="8324514" cy="4049737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F55BE85-A27B-09FB-8D2E-8E471510FEBD}"/>
              </a:ext>
            </a:extLst>
          </p:cNvPr>
          <p:cNvSpPr/>
          <p:nvPr/>
        </p:nvSpPr>
        <p:spPr>
          <a:xfrm>
            <a:off x="898635" y="2213613"/>
            <a:ext cx="2846880" cy="2089664"/>
          </a:xfrm>
          <a:prstGeom prst="rect">
            <a:avLst/>
          </a:prstGeom>
        </p:spPr>
        <p:txBody>
          <a:bodyPr vert="horz" lIns="91440" tIns="45720" rIns="91440" bIns="45720" rtlCol="0" anchor="t" anchorCtr="0" compatLnSpc="1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cap="none" spc="-24" baseline="0">
                <a:uFillTx/>
                <a:latin typeface="+mj-lt"/>
                <a:ea typeface="+mj-ea"/>
                <a:cs typeface="+mj-cs"/>
              </a:rPr>
              <a:t>Performance </a:t>
            </a:r>
            <a:r>
              <a:rPr lang="en-US" sz="3600" b="1" spc="-24">
                <a:latin typeface="+mj-lt"/>
                <a:ea typeface="+mj-ea"/>
                <a:cs typeface="+mj-cs"/>
              </a:rPr>
              <a:t>Overview</a:t>
            </a:r>
            <a:endParaRPr lang="en-US" sz="3600" b="0" i="0" u="none" strike="noStrike" cap="none" spc="0" baseline="0"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8193EF-F12A-AEDE-E503-5BF2190CD0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04" b="3"/>
          <a:stretch>
            <a:fillRect/>
          </a:stretch>
        </p:blipFill>
        <p:spPr>
          <a:xfrm>
            <a:off x="4019363" y="671707"/>
            <a:ext cx="4580374" cy="3793515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9E674541-7035-6049-4F9D-F85DFF4C5ED8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EE776FB-478F-F93E-47D2-E114745A2C73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68816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C9852-B032-93D2-DA4A-B7264BA0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981BBA-D547-2830-FB5F-2E52CA305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A2EF7-F49E-3B52-15FD-663B8F74B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193E3A-3DC7-AEA4-DEDD-A8554AD4F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514678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5030628-E5B4-6B5A-474F-A4A94993E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90D59B-47A6-4AB4-365B-0FEDEDD01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24120-BB1F-A597-245C-F738874C7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546881"/>
            <a:ext cx="8324514" cy="4049737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B6091EA-EF79-C4AD-05F6-76A892B00D5C}"/>
              </a:ext>
            </a:extLst>
          </p:cNvPr>
          <p:cNvSpPr/>
          <p:nvPr/>
        </p:nvSpPr>
        <p:spPr>
          <a:xfrm>
            <a:off x="898635" y="2213613"/>
            <a:ext cx="2846880" cy="2089664"/>
          </a:xfrm>
          <a:prstGeom prst="rect">
            <a:avLst/>
          </a:prstGeom>
        </p:spPr>
        <p:txBody>
          <a:bodyPr vert="horz" lIns="91440" tIns="45720" rIns="91440" bIns="45720" rtlCol="0" anchor="t" anchorCtr="0" compatLnSpc="1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cap="none" spc="-24" baseline="0" dirty="0">
                <a:uFillTx/>
                <a:latin typeface="+mj-lt"/>
                <a:ea typeface="+mj-ea"/>
                <a:cs typeface="+mj-cs"/>
              </a:rPr>
              <a:t>SEO </a:t>
            </a:r>
            <a:r>
              <a:rPr lang="en-US" sz="3600" b="1" spc="-24" dirty="0">
                <a:latin typeface="+mj-lt"/>
                <a:ea typeface="+mj-ea"/>
                <a:cs typeface="+mj-cs"/>
              </a:rPr>
              <a:t>Results</a:t>
            </a:r>
            <a:endParaRPr lang="en-US" sz="3600" b="0" i="0" u="none" strike="noStrike" cap="none" spc="0" baseline="0" dirty="0"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99E9C32-7727-5079-274E-849846D14DEE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A7C7CC1-10F0-00D8-D913-2A47A945C8C8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F8218-10BF-1E6D-A54E-3A5F91227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546881"/>
            <a:ext cx="5172420" cy="406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2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10163-CDEF-A109-3F05-45FA8E6F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B6F0BFD-1A50-9D73-C6D3-849B92D02721}"/>
              </a:ext>
            </a:extLst>
          </p:cNvPr>
          <p:cNvSpPr/>
          <p:nvPr/>
        </p:nvSpPr>
        <p:spPr>
          <a:xfrm>
            <a:off x="1" y="123886"/>
            <a:ext cx="9084876" cy="4956114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931F84-00D7-FFB9-52D0-020B1DACC81C}"/>
              </a:ext>
            </a:extLst>
          </p:cNvPr>
          <p:cNvSpPr/>
          <p:nvPr/>
        </p:nvSpPr>
        <p:spPr>
          <a:xfrm>
            <a:off x="245390" y="560590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Recommendations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1C7DA6-02A4-CB6B-A9BA-8AD1B660552B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C43DED7-33FA-CB91-2961-C488BCEA653A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214B0A6-B603-D66D-23D3-36612D74F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390" y="1275244"/>
            <a:ext cx="6138333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31740" tIns="0" rIns="-317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</a:rPr>
              <a:t>Improve Paid Social Quality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</a:rPr>
              <a:t>: Align ad messaging with landing pages to increase the current 16-second engagement time.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</a:rPr>
              <a:t>Scale Referral Channels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</a:rPr>
              <a:t>: Invest in partnerships with referring sites, as they drive 52% of all interactions.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</a:rPr>
              <a:t>Optimize Mobile Speed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</a:rPr>
              <a:t>: Reduce the 4.3s Largest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</a:rPr>
              <a:t>Contentful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</a:rPr>
              <a:t> Paint to better serve the 71% of users on mobile devices.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</a:rPr>
              <a:t>Boost Lead Conversion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</a:rPr>
              <a:t>: Add clear Call-to-Actions (CTAs) to convert the high volume of page views into "Qualified Leads," which currently sits at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</a:rPr>
              <a:t>zero.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458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431</Words>
  <Application>Microsoft Macintosh PowerPoint</Application>
  <PresentationFormat>On-screen Show (16:9)</PresentationFormat>
  <Paragraphs>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DM Sans</vt:lpstr>
      <vt:lpstr>Fraunces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KENAC 2</dc:title>
  <dc:subject>PptxGenJS Presentation</dc:subject>
  <dc:creator>Pitch Software GmbH</dc:creator>
  <cp:lastModifiedBy>Alex Naccy</cp:lastModifiedBy>
  <cp:revision>1000</cp:revision>
  <dcterms:created xsi:type="dcterms:W3CDTF">2024-08-01T10:01:29Z</dcterms:created>
  <dcterms:modified xsi:type="dcterms:W3CDTF">2026-03-10T17:42:00Z</dcterms:modified>
</cp:coreProperties>
</file>