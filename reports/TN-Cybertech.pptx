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142"/>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75569"/>
          </a:solidFill>
          <a:ln w="12700">
            <a:solidFill>
              <a:srgbClr val="475569"/>
            </a:solidFill>
            <a:prstDash val="solid"/>
          </a:ln>
        </p:spPr>
      </p:sp>
      <p:sp>
        <p:nvSpPr>
          <p:cNvPr id="3" name="Shape 1"/>
          <p:cNvSpPr/>
          <p:nvPr/>
        </p:nvSpPr>
        <p:spPr>
          <a:xfrm>
            <a:off x="8138160" y="502920"/>
            <a:ext cx="3246120" cy="5623560"/>
          </a:xfrm>
          <a:prstGeom prst="rect">
            <a:avLst/>
          </a:prstGeom>
          <a:solidFill>
            <a:srgbClr val="204A44">
              <a:alpha val="86000"/>
            </a:srgbClr>
          </a:solidFill>
          <a:ln w="12700">
            <a:solidFill>
              <a:srgbClr val="204A44">
                <a:alpha val="0"/>
              </a:srgbClr>
            </a:solidFill>
            <a:prstDash val="solid"/>
          </a:ln>
        </p:spPr>
      </p:sp>
      <p:sp>
        <p:nvSpPr>
          <p:cNvPr id="4" name="Text 2"/>
          <p:cNvSpPr/>
          <p:nvPr/>
        </p:nvSpPr>
        <p:spPr>
          <a:xfrm>
            <a:off x="640080" y="502920"/>
            <a:ext cx="2011680" cy="320040"/>
          </a:xfrm>
          <a:prstGeom prst="rect">
            <a:avLst/>
          </a:prstGeom>
          <a:noFill/>
          <a:ln/>
        </p:spPr>
        <p:txBody>
          <a:bodyPr wrap="square" rtlCol="0" anchor="ctr"/>
          <a:lstStyle/>
          <a:p>
            <a:pPr indent="0" marL="0">
              <a:buNone/>
            </a:pPr>
            <a:r>
              <a:rPr lang="en-US" sz="1400" b="1" dirty="0">
                <a:solidFill>
                  <a:srgbClr val="475569"/>
                </a:solidFill>
                <a:latin typeface="Montserrat" pitchFamily="34" charset="0"/>
                <a:ea typeface="Montserrat" pitchFamily="34" charset="-122"/>
                <a:cs typeface="Montserrat" pitchFamily="34" charset="-120"/>
              </a:rPr>
              <a:t>ReportGen</a:t>
            </a:r>
            <a:endParaRPr lang="en-US" sz="1400" dirty="0"/>
          </a:p>
        </p:txBody>
      </p:sp>
      <p:sp>
        <p:nvSpPr>
          <p:cNvPr id="5" name="Text 3"/>
          <p:cNvSpPr/>
          <p:nvPr/>
        </p:nvSpPr>
        <p:spPr>
          <a:xfrm>
            <a:off x="640080" y="1051560"/>
            <a:ext cx="4389120" cy="59436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Analytics Report</a:t>
            </a:r>
            <a:endParaRPr lang="en-US" sz="2600" dirty="0"/>
          </a:p>
        </p:txBody>
      </p:sp>
      <p:sp>
        <p:nvSpPr>
          <p:cNvPr id="6" name="Text 4"/>
          <p:cNvSpPr/>
          <p:nvPr/>
        </p:nvSpPr>
        <p:spPr>
          <a:xfrm>
            <a:off x="640080" y="1783080"/>
            <a:ext cx="4389120" cy="320040"/>
          </a:xfrm>
          <a:prstGeom prst="rect">
            <a:avLst/>
          </a:prstGeom>
          <a:noFill/>
          <a:ln/>
        </p:spPr>
        <p:txBody>
          <a:bodyPr wrap="square" rtlCol="0" anchor="ctr"/>
          <a:lstStyle/>
          <a:p>
            <a:pPr indent="0" marL="0">
              <a:buNone/>
            </a:pPr>
            <a:r>
              <a:rPr lang="en-US" sz="1600" dirty="0">
                <a:solidFill>
                  <a:srgbClr val="B6D6D1"/>
                </a:solidFill>
                <a:latin typeface="Lato" pitchFamily="34" charset="0"/>
                <a:ea typeface="Lato" pitchFamily="34" charset="-122"/>
                <a:cs typeface="Lato" pitchFamily="34" charset="-120"/>
              </a:rPr>
              <a:t>TN</a:t>
            </a:r>
            <a:endParaRPr lang="en-US" sz="1600" dirty="0"/>
          </a:p>
        </p:txBody>
      </p:sp>
      <p:sp>
        <p:nvSpPr>
          <p:cNvPr id="7" name="Text 5"/>
          <p:cNvSpPr/>
          <p:nvPr/>
        </p:nvSpPr>
        <p:spPr>
          <a:xfrm>
            <a:off x="640080" y="2148840"/>
            <a:ext cx="4389120" cy="320040"/>
          </a:xfrm>
          <a:prstGeom prst="rect">
            <a:avLst/>
          </a:prstGeom>
          <a:noFill/>
          <a:ln/>
        </p:spPr>
        <p:txBody>
          <a:bodyPr wrap="square" rtlCol="0" anchor="ctr"/>
          <a:lstStyle/>
          <a:p>
            <a:pPr indent="0" marL="0">
              <a:buNone/>
            </a:pPr>
            <a:r>
              <a:rPr lang="en-US" sz="1300" dirty="0">
                <a:solidFill>
                  <a:srgbClr val="91C9C0"/>
                </a:solidFill>
                <a:latin typeface="Lato" pitchFamily="34" charset="0"/>
                <a:ea typeface="Lato" pitchFamily="34" charset="-122"/>
                <a:cs typeface="Lato" pitchFamily="34" charset="-120"/>
              </a:rPr>
              <a:t>Jun 15, 2026 - Jul 15, 2026</a:t>
            </a:r>
            <a:endParaRPr lang="en-US" sz="1300" dirty="0"/>
          </a:p>
        </p:txBody>
      </p:sp>
      <p:sp>
        <p:nvSpPr>
          <p:cNvPr id="8" name="Text 6"/>
          <p:cNvSpPr/>
          <p:nvPr/>
        </p:nvSpPr>
        <p:spPr>
          <a:xfrm>
            <a:off x="640080" y="2743200"/>
            <a:ext cx="5120640" cy="1143000"/>
          </a:xfrm>
          <a:prstGeom prst="rect">
            <a:avLst/>
          </a:prstGeom>
          <a:noFill/>
          <a:ln/>
        </p:spPr>
        <p:txBody>
          <a:bodyPr wrap="square" rtlCol="0" anchor="t"/>
          <a:lstStyle/>
          <a:p>
            <a:pPr indent="0" marL="0">
              <a:buNone/>
            </a:pPr>
            <a:r>
              <a:rPr lang="en-US" sz="1600" dirty="0">
                <a:solidFill>
                  <a:srgbClr val="FFFFFF"/>
                </a:solidFill>
                <a:latin typeface="Lato" pitchFamily="34" charset="0"/>
                <a:ea typeface="Lato" pitchFamily="34" charset="-122"/>
                <a:cs typeface="Lato" pitchFamily="34" charset="-120"/>
              </a:rPr>
              <a:t>Jun 15, 2026 - Jul 15, 2026 performance generated 16881 sessions (+29.8% vs previous period), 6159 organic search clicks, and 0 tracked conversions.</a:t>
            </a:r>
            <a:endParaRPr lang="en-US" sz="1600" dirty="0"/>
          </a:p>
        </p:txBody>
      </p:sp>
      <p:sp>
        <p:nvSpPr>
          <p:cNvPr id="9" name="Shape 7"/>
          <p:cNvSpPr/>
          <p:nvPr/>
        </p:nvSpPr>
        <p:spPr>
          <a:xfrm>
            <a:off x="640080" y="4297680"/>
            <a:ext cx="1188720" cy="347472"/>
          </a:xfrm>
          <a:prstGeom prst="roundRect">
            <a:avLst>
              <a:gd name="adj" fmla="val 21053"/>
            </a:avLst>
          </a:prstGeom>
          <a:solidFill>
            <a:srgbClr val="475569"/>
          </a:solidFill>
          <a:ln w="12700">
            <a:solidFill>
              <a:srgbClr val="475569"/>
            </a:solidFill>
            <a:prstDash val="solid"/>
          </a:ln>
        </p:spPr>
      </p:sp>
      <p:sp>
        <p:nvSpPr>
          <p:cNvPr id="10" name="Text 8"/>
          <p:cNvSpPr/>
          <p:nvPr/>
        </p:nvSpPr>
        <p:spPr>
          <a:xfrm>
            <a:off x="640080" y="4379976"/>
            <a:ext cx="1188720" cy="146304"/>
          </a:xfrm>
          <a:prstGeom prst="rect">
            <a:avLst/>
          </a:prstGeom>
          <a:noFill/>
          <a:ln/>
        </p:spPr>
        <p:txBody>
          <a:bodyPr wrap="square"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READY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Executive Summary</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Jun 15, 2026 - Jul 15, 2026 performance generated 16881 sessions (+29.8% vs previous period), 6159 organic search clicks, and 0 tracked conversions.</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2514600" cy="1005840"/>
          </a:xfrm>
          <a:prstGeom prst="roundRect">
            <a:avLst>
              <a:gd name="adj" fmla="val 7273"/>
            </a:avLst>
          </a:prstGeom>
          <a:solidFill>
            <a:srgbClr val="F8FAFC"/>
          </a:solidFill>
          <a:ln w="12700">
            <a:solidFill>
              <a:srgbClr val="D7E1EA"/>
            </a:solidFill>
            <a:prstDash val="solid"/>
          </a:ln>
        </p:spPr>
      </p:sp>
      <p:sp>
        <p:nvSpPr>
          <p:cNvPr id="7" name="Text 5"/>
          <p:cNvSpPr/>
          <p:nvPr/>
        </p:nvSpPr>
        <p:spPr>
          <a:xfrm>
            <a:off x="822960" y="1618488"/>
            <a:ext cx="1920240" cy="164592"/>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Users</a:t>
            </a:r>
            <a:endParaRPr lang="en-US" sz="1000" dirty="0"/>
          </a:p>
        </p:txBody>
      </p:sp>
      <p:sp>
        <p:nvSpPr>
          <p:cNvPr id="8" name="Text 6"/>
          <p:cNvSpPr/>
          <p:nvPr/>
        </p:nvSpPr>
        <p:spPr>
          <a:xfrm>
            <a:off x="822960" y="1847088"/>
            <a:ext cx="1920240" cy="292608"/>
          </a:xfrm>
          <a:prstGeom prst="rect">
            <a:avLst/>
          </a:prstGeom>
          <a:noFill/>
          <a:ln/>
        </p:spPr>
        <p:txBody>
          <a:bodyPr wrap="square" rtlCol="0" anchor="ctr"/>
          <a:lstStyle/>
          <a:p>
            <a:pPr indent="0" marL="0">
              <a:buNone/>
            </a:pPr>
            <a:r>
              <a:rPr lang="en-US" sz="2000" b="1" dirty="0">
                <a:solidFill>
                  <a:srgbClr val="223142"/>
                </a:solidFill>
                <a:latin typeface="Montserrat" pitchFamily="34" charset="0"/>
                <a:ea typeface="Montserrat" pitchFamily="34" charset="-122"/>
                <a:cs typeface="Montserrat" pitchFamily="34" charset="-120"/>
              </a:rPr>
              <a:t>5.3K</a:t>
            </a:r>
            <a:endParaRPr lang="en-US" sz="2000" dirty="0"/>
          </a:p>
        </p:txBody>
      </p:sp>
      <p:sp>
        <p:nvSpPr>
          <p:cNvPr id="9" name="Shape 7"/>
          <p:cNvSpPr/>
          <p:nvPr/>
        </p:nvSpPr>
        <p:spPr>
          <a:xfrm>
            <a:off x="3429000" y="1417320"/>
            <a:ext cx="2514600" cy="1005840"/>
          </a:xfrm>
          <a:prstGeom prst="roundRect">
            <a:avLst>
              <a:gd name="adj" fmla="val 7273"/>
            </a:avLst>
          </a:prstGeom>
          <a:solidFill>
            <a:srgbClr val="F8FAFC"/>
          </a:solidFill>
          <a:ln w="12700">
            <a:solidFill>
              <a:srgbClr val="D7E1EA"/>
            </a:solidFill>
            <a:prstDash val="solid"/>
          </a:ln>
        </p:spPr>
      </p:sp>
      <p:sp>
        <p:nvSpPr>
          <p:cNvPr id="10" name="Text 8"/>
          <p:cNvSpPr/>
          <p:nvPr/>
        </p:nvSpPr>
        <p:spPr>
          <a:xfrm>
            <a:off x="3611880" y="1618488"/>
            <a:ext cx="1920240" cy="164592"/>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Sessions</a:t>
            </a:r>
            <a:endParaRPr lang="en-US" sz="1000" dirty="0"/>
          </a:p>
        </p:txBody>
      </p:sp>
      <p:sp>
        <p:nvSpPr>
          <p:cNvPr id="11" name="Text 9"/>
          <p:cNvSpPr/>
          <p:nvPr/>
        </p:nvSpPr>
        <p:spPr>
          <a:xfrm>
            <a:off x="3611880" y="1847088"/>
            <a:ext cx="1920240" cy="292608"/>
          </a:xfrm>
          <a:prstGeom prst="rect">
            <a:avLst/>
          </a:prstGeom>
          <a:noFill/>
          <a:ln/>
        </p:spPr>
        <p:txBody>
          <a:bodyPr wrap="square" rtlCol="0" anchor="ctr"/>
          <a:lstStyle/>
          <a:p>
            <a:pPr indent="0" marL="0">
              <a:buNone/>
            </a:pPr>
            <a:r>
              <a:rPr lang="en-US" sz="2000" b="1" dirty="0">
                <a:solidFill>
                  <a:srgbClr val="223142"/>
                </a:solidFill>
                <a:latin typeface="Montserrat" pitchFamily="34" charset="0"/>
                <a:ea typeface="Montserrat" pitchFamily="34" charset="-122"/>
                <a:cs typeface="Montserrat" pitchFamily="34" charset="-120"/>
              </a:rPr>
              <a:t>16.9K</a:t>
            </a:r>
            <a:endParaRPr lang="en-US" sz="2000" dirty="0"/>
          </a:p>
        </p:txBody>
      </p:sp>
      <p:sp>
        <p:nvSpPr>
          <p:cNvPr id="12" name="Shape 10"/>
          <p:cNvSpPr/>
          <p:nvPr/>
        </p:nvSpPr>
        <p:spPr>
          <a:xfrm>
            <a:off x="6217920" y="1417320"/>
            <a:ext cx="2514600" cy="1005840"/>
          </a:xfrm>
          <a:prstGeom prst="roundRect">
            <a:avLst>
              <a:gd name="adj" fmla="val 7273"/>
            </a:avLst>
          </a:prstGeom>
          <a:solidFill>
            <a:srgbClr val="F8FAFC"/>
          </a:solidFill>
          <a:ln w="12700">
            <a:solidFill>
              <a:srgbClr val="D7E1EA"/>
            </a:solidFill>
            <a:prstDash val="solid"/>
          </a:ln>
        </p:spPr>
      </p:sp>
      <p:sp>
        <p:nvSpPr>
          <p:cNvPr id="13" name="Text 11"/>
          <p:cNvSpPr/>
          <p:nvPr/>
        </p:nvSpPr>
        <p:spPr>
          <a:xfrm>
            <a:off x="6400800" y="1618488"/>
            <a:ext cx="1920240" cy="164592"/>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Organic clicks</a:t>
            </a:r>
            <a:endParaRPr lang="en-US" sz="1000" dirty="0"/>
          </a:p>
        </p:txBody>
      </p:sp>
      <p:sp>
        <p:nvSpPr>
          <p:cNvPr id="14" name="Text 12"/>
          <p:cNvSpPr/>
          <p:nvPr/>
        </p:nvSpPr>
        <p:spPr>
          <a:xfrm>
            <a:off x="6400800" y="1847088"/>
            <a:ext cx="1920240" cy="292608"/>
          </a:xfrm>
          <a:prstGeom prst="rect">
            <a:avLst/>
          </a:prstGeom>
          <a:noFill/>
          <a:ln/>
        </p:spPr>
        <p:txBody>
          <a:bodyPr wrap="square" rtlCol="0" anchor="ctr"/>
          <a:lstStyle/>
          <a:p>
            <a:pPr indent="0" marL="0">
              <a:buNone/>
            </a:pPr>
            <a:r>
              <a:rPr lang="en-US" sz="2000" b="1" dirty="0">
                <a:solidFill>
                  <a:srgbClr val="223142"/>
                </a:solidFill>
                <a:latin typeface="Montserrat" pitchFamily="34" charset="0"/>
                <a:ea typeface="Montserrat" pitchFamily="34" charset="-122"/>
                <a:cs typeface="Montserrat" pitchFamily="34" charset="-120"/>
              </a:rPr>
              <a:t>6.2K</a:t>
            </a:r>
            <a:endParaRPr lang="en-US" sz="2000" dirty="0"/>
          </a:p>
        </p:txBody>
      </p:sp>
      <p:sp>
        <p:nvSpPr>
          <p:cNvPr id="15" name="Shape 13"/>
          <p:cNvSpPr/>
          <p:nvPr/>
        </p:nvSpPr>
        <p:spPr>
          <a:xfrm>
            <a:off x="9006840" y="1417320"/>
            <a:ext cx="2514600" cy="1005840"/>
          </a:xfrm>
          <a:prstGeom prst="roundRect">
            <a:avLst>
              <a:gd name="adj" fmla="val 7273"/>
            </a:avLst>
          </a:prstGeom>
          <a:solidFill>
            <a:srgbClr val="F8FAFC"/>
          </a:solidFill>
          <a:ln w="12700">
            <a:solidFill>
              <a:srgbClr val="D7E1EA"/>
            </a:solidFill>
            <a:prstDash val="solid"/>
          </a:ln>
        </p:spPr>
      </p:sp>
      <p:sp>
        <p:nvSpPr>
          <p:cNvPr id="16" name="Text 14"/>
          <p:cNvSpPr/>
          <p:nvPr/>
        </p:nvSpPr>
        <p:spPr>
          <a:xfrm>
            <a:off x="9189720" y="1618488"/>
            <a:ext cx="1920240" cy="164592"/>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Conversions</a:t>
            </a:r>
            <a:endParaRPr lang="en-US" sz="1000" dirty="0"/>
          </a:p>
        </p:txBody>
      </p:sp>
      <p:sp>
        <p:nvSpPr>
          <p:cNvPr id="17" name="Text 15"/>
          <p:cNvSpPr/>
          <p:nvPr/>
        </p:nvSpPr>
        <p:spPr>
          <a:xfrm>
            <a:off x="9189720" y="1847088"/>
            <a:ext cx="1920240" cy="292608"/>
          </a:xfrm>
          <a:prstGeom prst="rect">
            <a:avLst/>
          </a:prstGeom>
          <a:noFill/>
          <a:ln/>
        </p:spPr>
        <p:txBody>
          <a:bodyPr wrap="square" rtlCol="0" anchor="ctr"/>
          <a:lstStyle/>
          <a:p>
            <a:pPr indent="0" marL="0">
              <a:buNone/>
            </a:pPr>
            <a:r>
              <a:rPr lang="en-US" sz="2000" b="1" dirty="0">
                <a:solidFill>
                  <a:srgbClr val="223142"/>
                </a:solidFill>
                <a:latin typeface="Montserrat" pitchFamily="34" charset="0"/>
                <a:ea typeface="Montserrat" pitchFamily="34" charset="-122"/>
                <a:cs typeface="Montserrat" pitchFamily="34" charset="-120"/>
              </a:rPr>
              <a:t>0</a:t>
            </a:r>
            <a:endParaRPr lang="en-US" sz="2000" dirty="0"/>
          </a:p>
        </p:txBody>
      </p:sp>
      <p:sp>
        <p:nvSpPr>
          <p:cNvPr id="18" name="Shape 16"/>
          <p:cNvSpPr/>
          <p:nvPr/>
        </p:nvSpPr>
        <p:spPr>
          <a:xfrm>
            <a:off x="640080" y="2834640"/>
            <a:ext cx="5486400" cy="2468880"/>
          </a:xfrm>
          <a:prstGeom prst="roundRect">
            <a:avLst>
              <a:gd name="adj" fmla="val 1852"/>
            </a:avLst>
          </a:prstGeom>
          <a:solidFill>
            <a:srgbClr val="F8FAFC"/>
          </a:solidFill>
          <a:ln w="12700">
            <a:solidFill>
              <a:srgbClr val="D7E1EA"/>
            </a:solidFill>
            <a:prstDash val="solid"/>
          </a:ln>
        </p:spPr>
      </p:sp>
      <p:sp>
        <p:nvSpPr>
          <p:cNvPr id="19" name="Text 17"/>
          <p:cNvSpPr/>
          <p:nvPr/>
        </p:nvSpPr>
        <p:spPr>
          <a:xfrm>
            <a:off x="804672" y="2962656"/>
            <a:ext cx="515721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Key recommendations</a:t>
            </a:r>
            <a:endParaRPr lang="en-US" sz="1200" dirty="0"/>
          </a:p>
        </p:txBody>
      </p:sp>
      <p:sp>
        <p:nvSpPr>
          <p:cNvPr id="20" name="Shape 18"/>
          <p:cNvSpPr/>
          <p:nvPr/>
        </p:nvSpPr>
        <p:spPr>
          <a:xfrm>
            <a:off x="822960" y="3337560"/>
            <a:ext cx="73152" cy="73152"/>
          </a:xfrm>
          <a:prstGeom prst="ellipse">
            <a:avLst/>
          </a:prstGeom>
          <a:solidFill>
            <a:srgbClr val="475569"/>
          </a:solidFill>
          <a:ln w="12700">
            <a:solidFill>
              <a:srgbClr val="475569"/>
            </a:solidFill>
            <a:prstDash val="solid"/>
          </a:ln>
        </p:spPr>
      </p:sp>
      <p:sp>
        <p:nvSpPr>
          <p:cNvPr id="21" name="Text 19"/>
          <p:cNvSpPr/>
          <p:nvPr/>
        </p:nvSpPr>
        <p:spPr>
          <a:xfrm>
            <a:off x="960120" y="3310128"/>
            <a:ext cx="498348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Scale the strongest acquisition engine: Organic Search / google / organic produced 6,848 sessions. Build a repeatable campaign/content plan around this source before add…</a:t>
            </a:r>
            <a:endParaRPr lang="en-US" sz="1100" dirty="0"/>
          </a:p>
        </p:txBody>
      </p:sp>
      <p:sp>
        <p:nvSpPr>
          <p:cNvPr id="22" name="Shape 20"/>
          <p:cNvSpPr/>
          <p:nvPr/>
        </p:nvSpPr>
        <p:spPr>
          <a:xfrm>
            <a:off x="822960" y="3749040"/>
            <a:ext cx="73152" cy="73152"/>
          </a:xfrm>
          <a:prstGeom prst="ellipse">
            <a:avLst/>
          </a:prstGeom>
          <a:solidFill>
            <a:srgbClr val="475569"/>
          </a:solidFill>
          <a:ln w="12700">
            <a:solidFill>
              <a:srgbClr val="475569"/>
            </a:solidFill>
            <a:prstDash val="solid"/>
          </a:ln>
        </p:spPr>
      </p:sp>
      <p:sp>
        <p:nvSpPr>
          <p:cNvPr id="23" name="Text 21"/>
          <p:cNvSpPr/>
          <p:nvPr/>
        </p:nvSpPr>
        <p:spPr>
          <a:xfrm>
            <a:off x="960120" y="3721608"/>
            <a:ext cx="498348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Prioritize the primary landing page: / generated 11,774 visits/views. Add a clear next step above the fold and track a dedicated conversion event for this page.</a:t>
            </a:r>
            <a:endParaRPr lang="en-US" sz="1100" dirty="0"/>
          </a:p>
        </p:txBody>
      </p:sp>
      <p:sp>
        <p:nvSpPr>
          <p:cNvPr id="24" name="Shape 22"/>
          <p:cNvSpPr/>
          <p:nvPr/>
        </p:nvSpPr>
        <p:spPr>
          <a:xfrm>
            <a:off x="822960" y="4160520"/>
            <a:ext cx="73152" cy="73152"/>
          </a:xfrm>
          <a:prstGeom prst="ellipse">
            <a:avLst/>
          </a:prstGeom>
          <a:solidFill>
            <a:srgbClr val="475569"/>
          </a:solidFill>
          <a:ln w="12700">
            <a:solidFill>
              <a:srgbClr val="475569"/>
            </a:solidFill>
            <a:prstDash val="solid"/>
          </a:ln>
        </p:spPr>
      </p:sp>
      <p:sp>
        <p:nvSpPr>
          <p:cNvPr id="25" name="Text 23"/>
          <p:cNvSpPr/>
          <p:nvPr/>
        </p:nvSpPr>
        <p:spPr>
          <a:xfrm>
            <a:off x="960120" y="4133088"/>
            <a:ext cx="498348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Improve SEO CTR: "online usd loans in zimbabwe" has 441 impressions but only 5.4% CTR. Rewrite the title/meta description around the search intent and include a stronger…</a:t>
            </a:r>
            <a:endParaRPr lang="en-US" sz="1100" dirty="0"/>
          </a:p>
        </p:txBody>
      </p:sp>
      <p:sp>
        <p:nvSpPr>
          <p:cNvPr id="26" name="Shape 24"/>
          <p:cNvSpPr/>
          <p:nvPr/>
        </p:nvSpPr>
        <p:spPr>
          <a:xfrm>
            <a:off x="822960" y="4572000"/>
            <a:ext cx="73152" cy="73152"/>
          </a:xfrm>
          <a:prstGeom prst="ellipse">
            <a:avLst/>
          </a:prstGeom>
          <a:solidFill>
            <a:srgbClr val="475569"/>
          </a:solidFill>
          <a:ln w="12700">
            <a:solidFill>
              <a:srgbClr val="475569"/>
            </a:solidFill>
            <a:prstDash val="solid"/>
          </a:ln>
        </p:spPr>
      </p:sp>
      <p:sp>
        <p:nvSpPr>
          <p:cNvPr id="27" name="Text 25"/>
          <p:cNvSpPr/>
          <p:nvPr/>
        </p:nvSpPr>
        <p:spPr>
          <a:xfrm>
            <a:off x="960120" y="4544568"/>
            <a:ext cx="498348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Use returning-user intent: returning users created 12,237 sessions. Add shortcuts for online banking, contact support, and product comparison so repeat visitors complete…</a:t>
            </a:r>
            <a:endParaRPr lang="en-US" sz="1100" dirty="0"/>
          </a:p>
        </p:txBody>
      </p:sp>
      <p:sp>
        <p:nvSpPr>
          <p:cNvPr id="28" name="Shape 26"/>
          <p:cNvSpPr/>
          <p:nvPr/>
        </p:nvSpPr>
        <p:spPr>
          <a:xfrm>
            <a:off x="6446520" y="2834640"/>
            <a:ext cx="4754880" cy="2468880"/>
          </a:xfrm>
          <a:prstGeom prst="roundRect">
            <a:avLst>
              <a:gd name="adj" fmla="val 1852"/>
            </a:avLst>
          </a:prstGeom>
          <a:solidFill>
            <a:srgbClr val="F8FAFC"/>
          </a:solidFill>
          <a:ln w="12700">
            <a:solidFill>
              <a:srgbClr val="D7E1EA"/>
            </a:solidFill>
            <a:prstDash val="solid"/>
          </a:ln>
        </p:spPr>
      </p:sp>
      <p:sp>
        <p:nvSpPr>
          <p:cNvPr id="29" name="Text 27"/>
          <p:cNvSpPr/>
          <p:nvPr/>
        </p:nvSpPr>
        <p:spPr>
          <a:xfrm>
            <a:off x="6611112" y="2962656"/>
            <a:ext cx="442569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Predictive focus</a:t>
            </a:r>
            <a:endParaRPr lang="en-US" sz="1200" dirty="0"/>
          </a:p>
        </p:txBody>
      </p:sp>
      <p:sp>
        <p:nvSpPr>
          <p:cNvPr id="30" name="Shape 28"/>
          <p:cNvSpPr/>
          <p:nvPr/>
        </p:nvSpPr>
        <p:spPr>
          <a:xfrm>
            <a:off x="6629400" y="3337560"/>
            <a:ext cx="73152" cy="73152"/>
          </a:xfrm>
          <a:prstGeom prst="ellipse">
            <a:avLst/>
          </a:prstGeom>
          <a:solidFill>
            <a:srgbClr val="475569"/>
          </a:solidFill>
          <a:ln w="12700">
            <a:solidFill>
              <a:srgbClr val="475569"/>
            </a:solidFill>
            <a:prstDash val="solid"/>
          </a:ln>
        </p:spPr>
      </p:sp>
      <p:sp>
        <p:nvSpPr>
          <p:cNvPr id="31" name="Text 29"/>
          <p:cNvSpPr/>
          <p:nvPr/>
        </p:nvSpPr>
        <p:spPr>
          <a:xfrm>
            <a:off x="6766560" y="3310128"/>
            <a:ext cx="42519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Build a cluster for online loans in Zimbabwe</a:t>
            </a:r>
            <a:endParaRPr lang="en-US" sz="1100" dirty="0"/>
          </a:p>
        </p:txBody>
      </p:sp>
      <p:sp>
        <p:nvSpPr>
          <p:cNvPr id="32" name="Shape 30"/>
          <p:cNvSpPr/>
          <p:nvPr/>
        </p:nvSpPr>
        <p:spPr>
          <a:xfrm>
            <a:off x="6629400" y="3749040"/>
            <a:ext cx="73152" cy="73152"/>
          </a:xfrm>
          <a:prstGeom prst="ellipse">
            <a:avLst/>
          </a:prstGeom>
          <a:solidFill>
            <a:srgbClr val="475569"/>
          </a:solidFill>
          <a:ln w="12700">
            <a:solidFill>
              <a:srgbClr val="475569"/>
            </a:solidFill>
            <a:prstDash val="solid"/>
          </a:ln>
        </p:spPr>
      </p:sp>
      <p:sp>
        <p:nvSpPr>
          <p:cNvPr id="33" name="Text 31"/>
          <p:cNvSpPr/>
          <p:nvPr/>
        </p:nvSpPr>
        <p:spPr>
          <a:xfrm>
            <a:off x="6766560" y="3721608"/>
            <a:ext cx="42519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Strengthen brand-adjacent non-branded discoverability</a:t>
            </a:r>
            <a:endParaRPr lang="en-US" sz="1100" dirty="0"/>
          </a:p>
        </p:txBody>
      </p:sp>
      <p:sp>
        <p:nvSpPr>
          <p:cNvPr id="34" name="Shape 32"/>
          <p:cNvSpPr/>
          <p:nvPr/>
        </p:nvSpPr>
        <p:spPr>
          <a:xfrm>
            <a:off x="6629400" y="4160520"/>
            <a:ext cx="73152" cy="73152"/>
          </a:xfrm>
          <a:prstGeom prst="ellipse">
            <a:avLst/>
          </a:prstGeom>
          <a:solidFill>
            <a:srgbClr val="475569"/>
          </a:solidFill>
          <a:ln w="12700">
            <a:solidFill>
              <a:srgbClr val="475569"/>
            </a:solidFill>
            <a:prstDash val="solid"/>
          </a:ln>
        </p:spPr>
      </p:sp>
      <p:sp>
        <p:nvSpPr>
          <p:cNvPr id="35" name="Text 33"/>
          <p:cNvSpPr/>
          <p:nvPr/>
        </p:nvSpPr>
        <p:spPr>
          <a:xfrm>
            <a:off x="6766560" y="4133088"/>
            <a:ext cx="42519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Improve homepage conversion flow</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Traffic Quality and Sources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The period generated 16,881 sessions, 5,312 users, and 70,268 page views. Referral was the leading traffic source with 7,864 sessions, while Mobile led device usage with 3,464 users.</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sp>
      <p:sp>
        <p:nvSpPr>
          <p:cNvPr id="7" name="Text 5"/>
          <p:cNvSpPr/>
          <p:nvPr/>
        </p:nvSpPr>
        <p:spPr>
          <a:xfrm>
            <a:off x="804672"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Users</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5.3K</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sp>
      <p:sp>
        <p:nvSpPr>
          <p:cNvPr id="10" name="Text 8"/>
          <p:cNvSpPr/>
          <p:nvPr/>
        </p:nvSpPr>
        <p:spPr>
          <a:xfrm>
            <a:off x="3566160"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Sessions</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16.9K</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sp>
      <p:sp>
        <p:nvSpPr>
          <p:cNvPr id="13" name="Text 11"/>
          <p:cNvSpPr/>
          <p:nvPr/>
        </p:nvSpPr>
        <p:spPr>
          <a:xfrm>
            <a:off x="6327648"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Page views</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70.3K</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sp>
      <p:sp>
        <p:nvSpPr>
          <p:cNvPr id="16" name="Text 14"/>
          <p:cNvSpPr/>
          <p:nvPr/>
        </p:nvSpPr>
        <p:spPr>
          <a:xfrm>
            <a:off x="9089136"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Engagement</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87.1%</a:t>
            </a:r>
            <a:endParaRPr lang="en-US" sz="1800" dirty="0"/>
          </a:p>
        </p:txBody>
      </p:sp>
      <p:sp>
        <p:nvSpPr>
          <p:cNvPr id="18" name="Shape 16"/>
          <p:cNvSpPr/>
          <p:nvPr/>
        </p:nvSpPr>
        <p:spPr>
          <a:xfrm>
            <a:off x="640080" y="2331720"/>
            <a:ext cx="5212080" cy="2468880"/>
          </a:xfrm>
          <a:prstGeom prst="roundRect">
            <a:avLst>
              <a:gd name="adj" fmla="val 1852"/>
            </a:avLst>
          </a:prstGeom>
          <a:solidFill>
            <a:srgbClr val="F8FAFC"/>
          </a:solidFill>
          <a:ln w="12700">
            <a:solidFill>
              <a:srgbClr val="D7E1EA"/>
            </a:solidFill>
            <a:prstDash val="solid"/>
          </a:ln>
        </p:spPr>
      </p:sp>
      <p:sp>
        <p:nvSpPr>
          <p:cNvPr id="19" name="Text 17"/>
          <p:cNvSpPr/>
          <p:nvPr/>
        </p:nvSpPr>
        <p:spPr>
          <a:xfrm>
            <a:off x="804672" y="2459736"/>
            <a:ext cx="488289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Traffic sources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8096" y="2743200"/>
          <a:ext cx="4956048" cy="1920240"/>
        </p:xfrm>
        <a:graphic>
          <a:graphicData uri="http://schemas.openxmlformats.org/drawingml/2006/table">
            <a:tbl>
              <a:tblPr/>
              <a:tblGrid>
                <a:gridCol w="2478024"/>
                <a:gridCol w="2478024"/>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Channel</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7.9K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Direct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905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Unassigned</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590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Organic Social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AI Assistant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21" name="Shape 18"/>
          <p:cNvSpPr/>
          <p:nvPr/>
        </p:nvSpPr>
        <p:spPr>
          <a:xfrm>
            <a:off x="6172200" y="2331720"/>
            <a:ext cx="5349240" cy="2468880"/>
          </a:xfrm>
          <a:prstGeom prst="roundRect">
            <a:avLst>
              <a:gd name="adj" fmla="val 1852"/>
            </a:avLst>
          </a:prstGeom>
          <a:solidFill>
            <a:srgbClr val="F8FAFC"/>
          </a:solidFill>
          <a:ln w="12700">
            <a:solidFill>
              <a:srgbClr val="D7E1EA"/>
            </a:solidFill>
            <a:prstDash val="solid"/>
          </a:ln>
        </p:spPr>
      </p:sp>
      <p:sp>
        <p:nvSpPr>
          <p:cNvPr id="22" name="Text 19"/>
          <p:cNvSpPr/>
          <p:nvPr/>
        </p:nvSpPr>
        <p:spPr>
          <a:xfrm>
            <a:off x="6336792" y="2459736"/>
            <a:ext cx="50200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Device split</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00216" y="2743200"/>
          <a:ext cx="5093208" cy="1920240"/>
        </p:xfrm>
        <a:graphic>
          <a:graphicData uri="http://schemas.openxmlformats.org/drawingml/2006/table">
            <a:tbl>
              <a:tblPr/>
              <a:tblGrid>
                <a:gridCol w="2546604"/>
                <a:gridCol w="2546604"/>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Device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1.8K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Tablet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User and Traffic Acquisition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Organic Search led acquisition through google / organic, generating 6,848 sessions and 3,974 users. Engagement from this source was 91.4%, which indicates how effectively this channel is bringing qualified visitors.</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User and Traffic Acquisition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3154680"/>
        </p:xfrm>
        <a:graphic>
          <a:graphicData uri="http://schemas.openxmlformats.org/drawingml/2006/table">
            <a:tbl>
              <a:tblPr/>
              <a:tblGrid>
                <a:gridCol w="1725168"/>
                <a:gridCol w="1725168"/>
                <a:gridCol w="1725168"/>
                <a:gridCol w="1725168"/>
                <a:gridCol w="1725168"/>
                <a:gridCol w="1725168"/>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Channel</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Source / medium</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Conv.</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google / organic</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6.8K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91.4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10.10.2.5:8090 / 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91.6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192.168.0.249:8090 / 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1.8K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84.9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Direct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(direct) / (none)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905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585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85.5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Unassigned</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590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bing / organic</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548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294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84.1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192.168.7.5:8090 / 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544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ntp.msn.com / referral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Landing Pages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 was the main entry point, producing 11,774 visits/views and 2,684 users. This page should be treated as the highest-priority conversion path for the period.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Landing Pages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3154680"/>
        </p:xfrm>
        <a:graphic>
          <a:graphicData uri="http://schemas.openxmlformats.org/drawingml/2006/table">
            <a:tbl>
              <a:tblPr/>
              <a:tblGrid>
                <a:gridCol w="2070202"/>
                <a:gridCol w="2070202"/>
                <a:gridCol w="2070202"/>
                <a:gridCol w="2070202"/>
                <a:gridCol w="207020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Landing page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Conv.</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11.8K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2.7K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1.7K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98.0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514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/for-you/mobile-banking/online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564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405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372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286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90.8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/customer-service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/for-you/mobile-banking</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92.7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Demographics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Harare, Zimbabwe was the strongest visible audience location, with 4,473 users and 13,870 sessions. This gives a useful indication of where demand is concentrated for the selected period.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Demographics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3154680"/>
        </p:xfrm>
        <a:graphic>
          <a:graphicData uri="http://schemas.openxmlformats.org/drawingml/2006/table">
            <a:tbl>
              <a:tblPr/>
              <a:tblGrid>
                <a:gridCol w="2070202"/>
                <a:gridCol w="2070202"/>
                <a:gridCol w="2070202"/>
                <a:gridCol w="2070202"/>
                <a:gridCol w="207020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Country</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City</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Harare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13.9K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88.2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Bulawayo</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425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89.9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United Kingdom</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84.6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Netherlands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91.7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Victoria Falls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80.2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Gweru</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88.6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South Africa</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Cape Town</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Pages and Screens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 was the most viewed page or screen with 32,172 views and 2,954 users. Its engagement rate of 86.4% shows how well the page held visitor attention.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Pages and Screens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3154680"/>
        </p:xfrm>
        <a:graphic>
          <a:graphicData uri="http://schemas.openxmlformats.org/drawingml/2006/table">
            <a:tbl>
              <a:tblPr/>
              <a:tblGrid>
                <a:gridCol w="2070202"/>
                <a:gridCol w="2070202"/>
                <a:gridCol w="2070202"/>
                <a:gridCol w="2070202"/>
                <a:gridCol w="207020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Page title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Path</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Views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32.2K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97.8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/for-you/loans/ecocash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830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/for-you/mobile-banking/online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2.4K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/for-you/mobile-banking</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2.1K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605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96.9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/for-you/loans/bank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527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User Engagement and Retention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Daily engagement peaked at 531 users in the displayed engagement sample. Returning users produced 12,237 sessions, showing repeat visitor intent that can be converted with clearer shortcuts and calls to action.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5212080" cy="3657600"/>
          </a:xfrm>
          <a:prstGeom prst="roundRect">
            <a:avLst>
              <a:gd name="adj" fmla="val 1250"/>
            </a:avLst>
          </a:prstGeom>
          <a:solidFill>
            <a:srgbClr val="F8FAFC"/>
          </a:solidFill>
          <a:ln w="12700">
            <a:solidFill>
              <a:srgbClr val="D7E1EA"/>
            </a:solidFill>
            <a:prstDash val="solid"/>
          </a:ln>
        </p:spPr>
      </p:sp>
      <p:sp>
        <p:nvSpPr>
          <p:cNvPr id="7" name="Text 5"/>
          <p:cNvSpPr/>
          <p:nvPr/>
        </p:nvSpPr>
        <p:spPr>
          <a:xfrm>
            <a:off x="804672" y="1545336"/>
            <a:ext cx="488289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Engagement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4956048" cy="3108960"/>
        </p:xfrm>
        <a:graphic>
          <a:graphicData uri="http://schemas.openxmlformats.org/drawingml/2006/table">
            <a:tbl>
              <a:tblPr/>
              <a:tblGrid>
                <a:gridCol w="1239012"/>
                <a:gridCol w="1239012"/>
                <a:gridCol w="1239012"/>
                <a:gridCol w="123901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Date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Engaged 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Jul 11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238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273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91.3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Jul 04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189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216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Jul 12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183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187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89.5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Jun 27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142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178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90.8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Jun 20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133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88.1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Jul 05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141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Jun 21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Jun 28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9" name="Shape 6"/>
          <p:cNvSpPr/>
          <p:nvPr/>
        </p:nvSpPr>
        <p:spPr>
          <a:xfrm>
            <a:off x="6172200" y="1417320"/>
            <a:ext cx="5074920" cy="3657600"/>
          </a:xfrm>
          <a:prstGeom prst="roundRect">
            <a:avLst>
              <a:gd name="adj" fmla="val 1250"/>
            </a:avLst>
          </a:prstGeom>
          <a:solidFill>
            <a:srgbClr val="F8FAFC"/>
          </a:solidFill>
          <a:ln w="12700">
            <a:solidFill>
              <a:srgbClr val="D7E1EA"/>
            </a:solidFill>
            <a:prstDash val="solid"/>
          </a:ln>
        </p:spPr>
      </p:sp>
      <p:sp>
        <p:nvSpPr>
          <p:cNvPr id="10" name="Text 7"/>
          <p:cNvSpPr/>
          <p:nvPr/>
        </p:nvSpPr>
        <p:spPr>
          <a:xfrm>
            <a:off x="6336792" y="1545336"/>
            <a:ext cx="474573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Retention</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0216" y="1828800"/>
          <a:ext cx="4818888" cy="3108960"/>
        </p:xfrm>
        <a:graphic>
          <a:graphicData uri="http://schemas.openxmlformats.org/drawingml/2006/table">
            <a:tbl>
              <a:tblPr/>
              <a:tblGrid>
                <a:gridCol w="1204722"/>
                <a:gridCol w="1204722"/>
                <a:gridCol w="1204722"/>
                <a:gridCol w="120472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Segment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new</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4.4K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4.4K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96.7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returning</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209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Tech Overview</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Mobile users on Chrome / Android were the largest audience technology segment, with 2,619 users and 4,106 sessions. This section is based on analytics device and browser data rather than site-performance monitoring.</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Tech Overview</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3154680"/>
        </p:xfrm>
        <a:graphic>
          <a:graphicData uri="http://schemas.openxmlformats.org/drawingml/2006/table">
            <a:tbl>
              <a:tblPr/>
              <a:tblGrid>
                <a:gridCol w="2070202"/>
                <a:gridCol w="2070202"/>
                <a:gridCol w="2070202"/>
                <a:gridCol w="2070202"/>
                <a:gridCol w="207020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Device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Browser</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OS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Android</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4.1K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6.9K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Edge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510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Safari</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iOS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409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645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iOS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231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412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Firefox</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237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Macintosh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243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Opera</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Android</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Predictive Insights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The forecast for the next 30 days is opportunity, with 92% confidence and weak historical validation. The strongest projected movement is Organic clicks, expected to move +1361.3% around a central estimate of 90,001.5.</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sp>
      <p:sp>
        <p:nvSpPr>
          <p:cNvPr id="7" name="Text 5"/>
          <p:cNvSpPr/>
          <p:nvPr/>
        </p:nvSpPr>
        <p:spPr>
          <a:xfrm>
            <a:off x="804672"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Confidence</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92%</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sp>
      <p:sp>
        <p:nvSpPr>
          <p:cNvPr id="10" name="Text 8"/>
          <p:cNvSpPr/>
          <p:nvPr/>
        </p:nvSpPr>
        <p:spPr>
          <a:xfrm>
            <a:off x="3566160"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Risk</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Opportunity</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sp>
      <p:sp>
        <p:nvSpPr>
          <p:cNvPr id="13" name="Text 11"/>
          <p:cNvSpPr/>
          <p:nvPr/>
        </p:nvSpPr>
        <p:spPr>
          <a:xfrm>
            <a:off x="6327648"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Forecast period</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30 days</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sp>
      <p:sp>
        <p:nvSpPr>
          <p:cNvPr id="16" name="Text 14"/>
          <p:cNvSpPr/>
          <p:nvPr/>
        </p:nvSpPr>
        <p:spPr>
          <a:xfrm>
            <a:off x="9089136"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Validation</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Weak</a:t>
            </a:r>
            <a:endParaRPr lang="en-US" sz="1800" dirty="0"/>
          </a:p>
        </p:txBody>
      </p:sp>
      <p:sp>
        <p:nvSpPr>
          <p:cNvPr id="18" name="Shape 16"/>
          <p:cNvSpPr/>
          <p:nvPr/>
        </p:nvSpPr>
        <p:spPr>
          <a:xfrm>
            <a:off x="640080" y="2240280"/>
            <a:ext cx="5212080" cy="2743200"/>
          </a:xfrm>
          <a:prstGeom prst="roundRect">
            <a:avLst>
              <a:gd name="adj" fmla="val 1667"/>
            </a:avLst>
          </a:prstGeom>
          <a:solidFill>
            <a:srgbClr val="F8FAFC"/>
          </a:solidFill>
          <a:ln w="12700">
            <a:solidFill>
              <a:srgbClr val="D7E1EA"/>
            </a:solidFill>
            <a:prstDash val="solid"/>
          </a:ln>
        </p:spPr>
      </p:sp>
      <p:sp>
        <p:nvSpPr>
          <p:cNvPr id="19" name="Text 17"/>
          <p:cNvSpPr/>
          <p:nvPr/>
        </p:nvSpPr>
        <p:spPr>
          <a:xfrm>
            <a:off x="804672" y="2368296"/>
            <a:ext cx="488289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Forecast narrative</a:t>
            </a:r>
            <a:endParaRPr lang="en-US" sz="1200" dirty="0"/>
          </a:p>
        </p:txBody>
      </p:sp>
      <p:sp>
        <p:nvSpPr>
          <p:cNvPr id="20" name="Shape 18"/>
          <p:cNvSpPr/>
          <p:nvPr/>
        </p:nvSpPr>
        <p:spPr>
          <a:xfrm>
            <a:off x="822960" y="2743200"/>
            <a:ext cx="73152" cy="73152"/>
          </a:xfrm>
          <a:prstGeom prst="ellipse">
            <a:avLst/>
          </a:prstGeom>
          <a:solidFill>
            <a:srgbClr val="475569"/>
          </a:solidFill>
          <a:ln w="12700">
            <a:solidFill>
              <a:srgbClr val="475569"/>
            </a:solidFill>
            <a:prstDash val="solid"/>
          </a:ln>
        </p:spPr>
      </p:sp>
      <p:sp>
        <p:nvSpPr>
          <p:cNvPr id="21" name="Text 19"/>
          <p:cNvSpPr/>
          <p:nvPr/>
        </p:nvSpPr>
        <p:spPr>
          <a:xfrm>
            <a:off x="960120" y="2715768"/>
            <a:ext cx="47091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AI strategy: The strongest non-branded opportunity is to expand beyond exact brand terms by building query clusters around online loans and mobile loans in Zimbabwe. The…</a:t>
            </a:r>
            <a:endParaRPr lang="en-US" sz="1100" dirty="0"/>
          </a:p>
        </p:txBody>
      </p:sp>
      <p:sp>
        <p:nvSpPr>
          <p:cNvPr id="22" name="Shape 20"/>
          <p:cNvSpPr/>
          <p:nvPr/>
        </p:nvSpPr>
        <p:spPr>
          <a:xfrm>
            <a:off x="822960" y="3154680"/>
            <a:ext cx="73152" cy="73152"/>
          </a:xfrm>
          <a:prstGeom prst="ellipse">
            <a:avLst/>
          </a:prstGeom>
          <a:solidFill>
            <a:srgbClr val="475569"/>
          </a:solidFill>
          <a:ln w="12700">
            <a:solidFill>
              <a:srgbClr val="475569"/>
            </a:solidFill>
            <a:prstDash val="solid"/>
          </a:ln>
        </p:spPr>
      </p:sp>
      <p:sp>
        <p:nvSpPr>
          <p:cNvPr id="23" name="Text 21"/>
          <p:cNvSpPr/>
          <p:nvPr/>
        </p:nvSpPr>
        <p:spPr>
          <a:xfrm>
            <a:off x="960120" y="3127248"/>
            <a:ext cx="47091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Opportunity outlook for the next 30 days with 92% confidence. Organic clicks shows the strongest projected movement at +1361.3% around a central estimate of 90,001.5.</a:t>
            </a:r>
            <a:endParaRPr lang="en-US" sz="1100" dirty="0"/>
          </a:p>
        </p:txBody>
      </p:sp>
      <p:sp>
        <p:nvSpPr>
          <p:cNvPr id="24" name="Shape 22"/>
          <p:cNvSpPr/>
          <p:nvPr/>
        </p:nvSpPr>
        <p:spPr>
          <a:xfrm>
            <a:off x="822960" y="3566160"/>
            <a:ext cx="73152" cy="73152"/>
          </a:xfrm>
          <a:prstGeom prst="ellipse">
            <a:avLst/>
          </a:prstGeom>
          <a:solidFill>
            <a:srgbClr val="475569"/>
          </a:solidFill>
          <a:ln w="12700">
            <a:solidFill>
              <a:srgbClr val="475569"/>
            </a:solidFill>
            <a:prstDash val="solid"/>
          </a:ln>
        </p:spPr>
      </p:sp>
      <p:sp>
        <p:nvSpPr>
          <p:cNvPr id="25" name="Text 23"/>
          <p:cNvSpPr/>
          <p:nvPr/>
        </p:nvSpPr>
        <p:spPr>
          <a:xfrm>
            <a:off x="960120" y="3538728"/>
            <a:ext cx="470916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Summary-mode validation is inferred from current period stability because detailed rolling history is not available in mock mode.</a:t>
            </a:r>
            <a:endParaRPr lang="en-US" sz="1100" dirty="0"/>
          </a:p>
        </p:txBody>
      </p:sp>
      <p:sp>
        <p:nvSpPr>
          <p:cNvPr id="26" name="Shape 24"/>
          <p:cNvSpPr/>
          <p:nvPr/>
        </p:nvSpPr>
        <p:spPr>
          <a:xfrm>
            <a:off x="6172200" y="2240280"/>
            <a:ext cx="5074920" cy="2743200"/>
          </a:xfrm>
          <a:prstGeom prst="roundRect">
            <a:avLst>
              <a:gd name="adj" fmla="val 1667"/>
            </a:avLst>
          </a:prstGeom>
          <a:solidFill>
            <a:srgbClr val="F8FAFC"/>
          </a:solidFill>
          <a:ln w="12700">
            <a:solidFill>
              <a:srgbClr val="D7E1EA"/>
            </a:solidFill>
            <a:prstDash val="solid"/>
          </a:ln>
        </p:spPr>
      </p:sp>
      <p:sp>
        <p:nvSpPr>
          <p:cNvPr id="27" name="Text 25"/>
          <p:cNvSpPr/>
          <p:nvPr/>
        </p:nvSpPr>
        <p:spPr>
          <a:xfrm>
            <a:off x="6336792" y="2368296"/>
            <a:ext cx="474573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Action plan</a:t>
            </a:r>
            <a:endParaRPr lang="en-US" sz="1200" dirty="0"/>
          </a:p>
        </p:txBody>
      </p:sp>
      <p:sp>
        <p:nvSpPr>
          <p:cNvPr id="28" name="Shape 26"/>
          <p:cNvSpPr/>
          <p:nvPr/>
        </p:nvSpPr>
        <p:spPr>
          <a:xfrm>
            <a:off x="6355080" y="2743200"/>
            <a:ext cx="73152" cy="73152"/>
          </a:xfrm>
          <a:prstGeom prst="ellipse">
            <a:avLst/>
          </a:prstGeom>
          <a:solidFill>
            <a:srgbClr val="475569"/>
          </a:solidFill>
          <a:ln w="12700">
            <a:solidFill>
              <a:srgbClr val="475569"/>
            </a:solidFill>
            <a:prstDash val="solid"/>
          </a:ln>
        </p:spPr>
      </p:sp>
      <p:sp>
        <p:nvSpPr>
          <p:cNvPr id="29" name="Text 27"/>
          <p:cNvSpPr/>
          <p:nvPr/>
        </p:nvSpPr>
        <p:spPr>
          <a:xfrm>
            <a:off x="6492240" y="2715768"/>
            <a:ext cx="457200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Build a cluster for online loans in Zimbabwe: Create one primary loan page focused on the cluster intent, not a single keyword. Support it with FAQs, subheadings, and in…</a:t>
            </a:r>
            <a:endParaRPr lang="en-US" sz="1100" dirty="0"/>
          </a:p>
        </p:txBody>
      </p:sp>
      <p:sp>
        <p:nvSpPr>
          <p:cNvPr id="30" name="Shape 28"/>
          <p:cNvSpPr/>
          <p:nvPr/>
        </p:nvSpPr>
        <p:spPr>
          <a:xfrm>
            <a:off x="6355080" y="3154680"/>
            <a:ext cx="73152" cy="73152"/>
          </a:xfrm>
          <a:prstGeom prst="ellipse">
            <a:avLst/>
          </a:prstGeom>
          <a:solidFill>
            <a:srgbClr val="475569"/>
          </a:solidFill>
          <a:ln w="12700">
            <a:solidFill>
              <a:srgbClr val="475569"/>
            </a:solidFill>
            <a:prstDash val="solid"/>
          </a:ln>
        </p:spPr>
      </p:sp>
      <p:sp>
        <p:nvSpPr>
          <p:cNvPr id="31" name="Text 29"/>
          <p:cNvSpPr/>
          <p:nvPr/>
        </p:nvSpPr>
        <p:spPr>
          <a:xfrm>
            <a:off x="6492240" y="3127248"/>
            <a:ext cx="457200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Strengthen brand-adjacent non-branded discoverability: Create or refresh a page that targets the broader cybertech bank cluster. Include related variants in headings, FA…</a:t>
            </a:r>
            <a:endParaRPr lang="en-US" sz="1100" dirty="0"/>
          </a:p>
        </p:txBody>
      </p:sp>
      <p:sp>
        <p:nvSpPr>
          <p:cNvPr id="32" name="Shape 30"/>
          <p:cNvSpPr/>
          <p:nvPr/>
        </p:nvSpPr>
        <p:spPr>
          <a:xfrm>
            <a:off x="6355080" y="3566160"/>
            <a:ext cx="73152" cy="73152"/>
          </a:xfrm>
          <a:prstGeom prst="ellipse">
            <a:avLst/>
          </a:prstGeom>
          <a:solidFill>
            <a:srgbClr val="475569"/>
          </a:solidFill>
          <a:ln w="12700">
            <a:solidFill>
              <a:srgbClr val="475569"/>
            </a:solidFill>
            <a:prstDash val="solid"/>
          </a:ln>
        </p:spPr>
      </p:sp>
      <p:sp>
        <p:nvSpPr>
          <p:cNvPr id="33" name="Text 31"/>
          <p:cNvSpPr/>
          <p:nvPr/>
        </p:nvSpPr>
        <p:spPr>
          <a:xfrm>
            <a:off x="6492240" y="3538728"/>
            <a:ext cx="457200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Improve homepage conversion flow: Make the value proposition clear above the fold. Place one primary CTA prominently and reduce competing actions. Add trust, process, an…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SEO Performance</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Search Console recorded 6,159 clicks from 35,019 impressions at 17.6% CTR. The strongest query was "tn cybertech bank" with 1,004 clicks, while https://tncybertechbank.co.zw/ carried the strongest page-level search demand.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sp>
      <p:sp>
        <p:nvSpPr>
          <p:cNvPr id="7" name="Text 5"/>
          <p:cNvSpPr/>
          <p:nvPr/>
        </p:nvSpPr>
        <p:spPr>
          <a:xfrm>
            <a:off x="804672"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Clicks</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6.2K</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sp>
      <p:sp>
        <p:nvSpPr>
          <p:cNvPr id="10" name="Text 8"/>
          <p:cNvSpPr/>
          <p:nvPr/>
        </p:nvSpPr>
        <p:spPr>
          <a:xfrm>
            <a:off x="3566160"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Impressions</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35K</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sp>
      <p:sp>
        <p:nvSpPr>
          <p:cNvPr id="13" name="Text 11"/>
          <p:cNvSpPr/>
          <p:nvPr/>
        </p:nvSpPr>
        <p:spPr>
          <a:xfrm>
            <a:off x="6327648"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CTR</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17.6%</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sp>
      <p:sp>
        <p:nvSpPr>
          <p:cNvPr id="16" name="Text 14"/>
          <p:cNvSpPr/>
          <p:nvPr/>
        </p:nvSpPr>
        <p:spPr>
          <a:xfrm>
            <a:off x="9089136" y="1472184"/>
            <a:ext cx="2011680" cy="146304"/>
          </a:xfrm>
          <a:prstGeom prst="rect">
            <a:avLst/>
          </a:prstGeom>
          <a:noFill/>
          <a:ln/>
        </p:spPr>
        <p:txBody>
          <a:bodyPr wrap="square" rtlCol="0" anchor="ctr"/>
          <a:lstStyle/>
          <a:p>
            <a:pPr indent="0" marL="0">
              <a:buNone/>
            </a:pPr>
            <a:r>
              <a:rPr lang="en-US" sz="1000" dirty="0">
                <a:solidFill>
                  <a:srgbClr val="6F7F90"/>
                </a:solidFill>
                <a:latin typeface="Lato" pitchFamily="34" charset="0"/>
                <a:ea typeface="Lato" pitchFamily="34" charset="-122"/>
                <a:cs typeface="Lato" pitchFamily="34" charset="-120"/>
              </a:rPr>
              <a:t>Avg. position</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indent="0" marL="0">
              <a:buNone/>
            </a:pPr>
            <a:r>
              <a:rPr lang="en-US" sz="1800" b="1" dirty="0">
                <a:solidFill>
                  <a:srgbClr val="223142"/>
                </a:solidFill>
                <a:latin typeface="Montserrat" pitchFamily="34" charset="0"/>
                <a:ea typeface="Montserrat" pitchFamily="34" charset="-122"/>
                <a:cs typeface="Montserrat" pitchFamily="34" charset="-120"/>
              </a:rPr>
              <a:t>4.2</a:t>
            </a:r>
            <a:endParaRPr lang="en-US" sz="1800" dirty="0"/>
          </a:p>
        </p:txBody>
      </p:sp>
      <p:sp>
        <p:nvSpPr>
          <p:cNvPr id="18" name="Shape 16"/>
          <p:cNvSpPr/>
          <p:nvPr/>
        </p:nvSpPr>
        <p:spPr>
          <a:xfrm>
            <a:off x="640080" y="2331720"/>
            <a:ext cx="5486400" cy="2697480"/>
          </a:xfrm>
          <a:prstGeom prst="roundRect">
            <a:avLst>
              <a:gd name="adj" fmla="val 1695"/>
            </a:avLst>
          </a:prstGeom>
          <a:solidFill>
            <a:srgbClr val="F8FAFC"/>
          </a:solidFill>
          <a:ln w="12700">
            <a:solidFill>
              <a:srgbClr val="D7E1EA"/>
            </a:solidFill>
            <a:prstDash val="solid"/>
          </a:ln>
        </p:spPr>
      </p:sp>
      <p:sp>
        <p:nvSpPr>
          <p:cNvPr id="19" name="Text 17"/>
          <p:cNvSpPr/>
          <p:nvPr/>
        </p:nvSpPr>
        <p:spPr>
          <a:xfrm>
            <a:off x="804672" y="2459736"/>
            <a:ext cx="515721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Top queries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8096" y="2743200"/>
          <a:ext cx="5230368" cy="2148840"/>
        </p:xfrm>
        <a:graphic>
          <a:graphicData uri="http://schemas.openxmlformats.org/drawingml/2006/table">
            <a:tbl>
              <a:tblPr/>
              <a:tblGrid>
                <a:gridCol w="1307592"/>
                <a:gridCol w="1307592"/>
                <a:gridCol w="1307592"/>
                <a:gridCol w="130759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Query</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Clicks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Impressions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CTR</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46.1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898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58.7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online loans in 5 minutes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161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1.4K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mobile loans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103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instant loans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856</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tn cybertech bank online banking</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160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723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22.1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online mobile loans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598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15.9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online usd loans in zimbabwe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441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21" name="Shape 18"/>
          <p:cNvSpPr/>
          <p:nvPr/>
        </p:nvSpPr>
        <p:spPr>
          <a:xfrm>
            <a:off x="6355080" y="2331720"/>
            <a:ext cx="4892040" cy="2697480"/>
          </a:xfrm>
          <a:prstGeom prst="roundRect">
            <a:avLst>
              <a:gd name="adj" fmla="val 1695"/>
            </a:avLst>
          </a:prstGeom>
          <a:solidFill>
            <a:srgbClr val="F8FAFC"/>
          </a:solidFill>
          <a:ln w="12700">
            <a:solidFill>
              <a:srgbClr val="D7E1EA"/>
            </a:solidFill>
            <a:prstDash val="solid"/>
          </a:ln>
        </p:spPr>
      </p:sp>
      <p:sp>
        <p:nvSpPr>
          <p:cNvPr id="22" name="Text 19"/>
          <p:cNvSpPr/>
          <p:nvPr/>
        </p:nvSpPr>
        <p:spPr>
          <a:xfrm>
            <a:off x="6519672" y="2459736"/>
            <a:ext cx="4562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Top SEO pages</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83096" y="2743200"/>
          <a:ext cx="4636008" cy="2148840"/>
        </p:xfrm>
        <a:graphic>
          <a:graphicData uri="http://schemas.openxmlformats.org/drawingml/2006/table">
            <a:tbl>
              <a:tblPr/>
              <a:tblGrid>
                <a:gridCol w="1545336"/>
                <a:gridCol w="1545336"/>
                <a:gridCol w="1545336"/>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Page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Clicks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Impressions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12.7K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https://tncybertechbank.co.zw/for-you/loans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17.9K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662</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https://tncybertechbank.co.zw/contact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279</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https://tncybertechbank.co.zw/customer-service</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135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5.8K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113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7.1K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https://tncybertechbank.co.zw/management-team</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70</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687</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58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654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Actions Taken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This month 3 delivery items were logged across content, SEO, implementation, and analytics work.</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Actions Taken</a:t>
            </a:r>
            <a:endParaRPr lang="en-US" sz="1200" dirty="0"/>
          </a:p>
        </p:txBody>
      </p:sp>
      <p:sp>
        <p:nvSpPr>
          <p:cNvPr id="8" name="Shape 6"/>
          <p:cNvSpPr/>
          <p:nvPr/>
        </p:nvSpPr>
        <p:spPr>
          <a:xfrm>
            <a:off x="822960" y="1920240"/>
            <a:ext cx="73152" cy="73152"/>
          </a:xfrm>
          <a:prstGeom prst="ellipse">
            <a:avLst/>
          </a:prstGeom>
          <a:solidFill>
            <a:srgbClr val="475569"/>
          </a:solidFill>
          <a:ln w="12700">
            <a:solidFill>
              <a:srgbClr val="475569"/>
            </a:solidFill>
            <a:prstDash val="solid"/>
          </a:ln>
        </p:spPr>
      </p:sp>
      <p:sp>
        <p:nvSpPr>
          <p:cNvPr id="9" name="Text 7"/>
          <p:cNvSpPr/>
          <p:nvPr/>
        </p:nvSpPr>
        <p:spPr>
          <a:xfrm>
            <a:off x="960120" y="189280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SEO focus was directed to https://tncybertechbank.co.zw/ and https://tncybertechbank.co.zw/for-you/loans based on current search demand.</a:t>
            </a:r>
            <a:endParaRPr lang="en-US" sz="1100" dirty="0"/>
          </a:p>
        </p:txBody>
      </p:sp>
      <p:sp>
        <p:nvSpPr>
          <p:cNvPr id="10" name="Shape 8"/>
          <p:cNvSpPr/>
          <p:nvPr/>
        </p:nvSpPr>
        <p:spPr>
          <a:xfrm>
            <a:off x="822960" y="2331720"/>
            <a:ext cx="73152" cy="73152"/>
          </a:xfrm>
          <a:prstGeom prst="ellipse">
            <a:avLst/>
          </a:prstGeom>
          <a:solidFill>
            <a:srgbClr val="475569"/>
          </a:solidFill>
          <a:ln w="12700">
            <a:solidFill>
              <a:srgbClr val="475569"/>
            </a:solidFill>
            <a:prstDash val="solid"/>
          </a:ln>
        </p:spPr>
      </p:sp>
      <p:sp>
        <p:nvSpPr>
          <p:cNvPr id="11" name="Text 9"/>
          <p:cNvSpPr/>
          <p:nvPr/>
        </p:nvSpPr>
        <p:spPr>
          <a:xfrm>
            <a:off x="960120" y="230428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Search visibility review covered queries such as "tn cybertech bank" and "tn cybertech."</a:t>
            </a:r>
            <a:endParaRPr lang="en-US" sz="1100" dirty="0"/>
          </a:p>
        </p:txBody>
      </p:sp>
      <p:sp>
        <p:nvSpPr>
          <p:cNvPr id="12" name="Shape 10"/>
          <p:cNvSpPr/>
          <p:nvPr/>
        </p:nvSpPr>
        <p:spPr>
          <a:xfrm>
            <a:off x="822960" y="2743200"/>
            <a:ext cx="73152" cy="73152"/>
          </a:xfrm>
          <a:prstGeom prst="ellipse">
            <a:avLst/>
          </a:prstGeom>
          <a:solidFill>
            <a:srgbClr val="475569"/>
          </a:solidFill>
          <a:ln w="12700">
            <a:solidFill>
              <a:srgbClr val="475569"/>
            </a:solidFill>
            <a:prstDash val="solid"/>
          </a:ln>
        </p:spPr>
      </p:sp>
      <p:sp>
        <p:nvSpPr>
          <p:cNvPr id="13" name="Text 11"/>
          <p:cNvSpPr/>
          <p:nvPr/>
        </p:nvSpPr>
        <p:spPr>
          <a:xfrm>
            <a:off x="960120" y="271576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Analytics review prioritised high-traffic pages including / and /for-you/loans.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Issues, Risks and Blockers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Current issues, risks, and blockers are listed explicitly so the client can see what may slow down performance or execution.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Issues, Risks and Blockers</a:t>
            </a:r>
            <a:endParaRPr lang="en-US" sz="1200" dirty="0"/>
          </a:p>
        </p:txBody>
      </p:sp>
      <p:sp>
        <p:nvSpPr>
          <p:cNvPr id="8" name="Shape 6"/>
          <p:cNvSpPr/>
          <p:nvPr/>
        </p:nvSpPr>
        <p:spPr>
          <a:xfrm>
            <a:off x="822960" y="1920240"/>
            <a:ext cx="73152" cy="73152"/>
          </a:xfrm>
          <a:prstGeom prst="ellipse">
            <a:avLst/>
          </a:prstGeom>
          <a:solidFill>
            <a:srgbClr val="475569"/>
          </a:solidFill>
          <a:ln w="12700">
            <a:solidFill>
              <a:srgbClr val="475569"/>
            </a:solidFill>
            <a:prstDash val="solid"/>
          </a:ln>
        </p:spPr>
      </p:sp>
      <p:sp>
        <p:nvSpPr>
          <p:cNvPr id="9" name="Text 7"/>
          <p:cNvSpPr/>
          <p:nvPr/>
        </p:nvSpPr>
        <p:spPr>
          <a:xfrm>
            <a:off x="960120" y="189280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"online usd loans in zimbabwe" has strong impressions but weak CTR at 5.4%, which is limiting organic traffic capture.</a:t>
            </a:r>
            <a:endParaRPr lang="en-US" sz="1100" dirty="0"/>
          </a:p>
        </p:txBody>
      </p:sp>
      <p:sp>
        <p:nvSpPr>
          <p:cNvPr id="10" name="Shape 8"/>
          <p:cNvSpPr/>
          <p:nvPr/>
        </p:nvSpPr>
        <p:spPr>
          <a:xfrm>
            <a:off x="822960" y="2331720"/>
            <a:ext cx="73152" cy="73152"/>
          </a:xfrm>
          <a:prstGeom prst="ellipse">
            <a:avLst/>
          </a:prstGeom>
          <a:solidFill>
            <a:srgbClr val="475569"/>
          </a:solidFill>
          <a:ln w="12700">
            <a:solidFill>
              <a:srgbClr val="475569"/>
            </a:solidFill>
            <a:prstDash val="solid"/>
          </a:ln>
        </p:spPr>
      </p:sp>
      <p:sp>
        <p:nvSpPr>
          <p:cNvPr id="11" name="Text 9"/>
          <p:cNvSpPr/>
          <p:nvPr/>
        </p:nvSpPr>
        <p:spPr>
          <a:xfrm>
            <a:off x="960120" y="230428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No conversions were recorded for this period, which may indicate a tracking gap or a weak conversion path.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User Behaviour Insights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 received the strongest attention in the current period. Behaviour insight is currently inferred from page views and engagement until heatmaps, scroll depth, and flow tools are connected.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6400800" cy="3200400"/>
          </a:xfrm>
          <a:prstGeom prst="roundRect">
            <a:avLst>
              <a:gd name="adj" fmla="val 1429"/>
            </a:avLst>
          </a:prstGeom>
          <a:solidFill>
            <a:srgbClr val="F8FAFC"/>
          </a:solidFill>
          <a:ln w="12700">
            <a:solidFill>
              <a:srgbClr val="D7E1EA"/>
            </a:solidFill>
            <a:prstDash val="solid"/>
          </a:ln>
        </p:spPr>
      </p:sp>
      <p:sp>
        <p:nvSpPr>
          <p:cNvPr id="7" name="Text 5"/>
          <p:cNvSpPr/>
          <p:nvPr/>
        </p:nvSpPr>
        <p:spPr>
          <a:xfrm>
            <a:off x="804672" y="1545336"/>
            <a:ext cx="607161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Behaviour observations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6144768" cy="2651760"/>
        </p:xfrm>
        <a:graphic>
          <a:graphicData uri="http://schemas.openxmlformats.org/drawingml/2006/table">
            <a:tbl>
              <a:tblPr/>
              <a:tblGrid>
                <a:gridCol w="1536192"/>
                <a:gridCol w="1536192"/>
                <a:gridCol w="1536192"/>
                <a:gridCol w="1536192"/>
              </a:tblGrid>
              <a:tr h="256032">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Page</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Views</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Insight</a:t>
                      </a:r>
                      <a:endParaRPr lang="en-US" sz="900" dirty="0">
                        <a:latin typeface="Montserrat" charset="0"/>
                        <a:ea typeface="Montserrat" charset="0"/>
                        <a:cs typeface="Montserrat"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32.2K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8.2K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97.8</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4.3K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/for-you/loans/ecocash</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marT="45720" marB="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9" name="Shape 6"/>
          <p:cNvSpPr/>
          <p:nvPr/>
        </p:nvSpPr>
        <p:spPr>
          <a:xfrm>
            <a:off x="7315200" y="1417320"/>
            <a:ext cx="3840480" cy="3200400"/>
          </a:xfrm>
          <a:prstGeom prst="roundRect">
            <a:avLst>
              <a:gd name="adj" fmla="val 1429"/>
            </a:avLst>
          </a:prstGeom>
          <a:solidFill>
            <a:srgbClr val="F8FAFC"/>
          </a:solidFill>
          <a:ln w="12700">
            <a:solidFill>
              <a:srgbClr val="D7E1EA"/>
            </a:solidFill>
            <a:prstDash val="solid"/>
          </a:ln>
        </p:spPr>
      </p:sp>
      <p:sp>
        <p:nvSpPr>
          <p:cNvPr id="10" name="Text 7"/>
          <p:cNvSpPr/>
          <p:nvPr/>
        </p:nvSpPr>
        <p:spPr>
          <a:xfrm>
            <a:off x="7479792" y="1545336"/>
            <a:ext cx="351129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Behaviour notes</a:t>
            </a:r>
            <a:endParaRPr lang="en-US" sz="1200" dirty="0"/>
          </a:p>
        </p:txBody>
      </p:sp>
      <p:sp>
        <p:nvSpPr>
          <p:cNvPr id="11" name="Text 8"/>
          <p:cNvSpPr/>
          <p:nvPr/>
        </p:nvSpPr>
        <p:spPr>
          <a:xfrm>
            <a:off x="7479792" y="1911096"/>
            <a:ext cx="3511296" cy="182880"/>
          </a:xfrm>
          <a:prstGeom prst="rect">
            <a:avLst/>
          </a:prstGeom>
          <a:noFill/>
          <a:ln/>
        </p:spPr>
        <p:txBody>
          <a:bodyPr wrap="square" rtlCol="0" anchor="ctr"/>
          <a:lstStyle/>
          <a:p>
            <a:pPr indent="0" marL="0">
              <a:buNone/>
            </a:pPr>
            <a:r>
              <a:rPr lang="en-US" sz="1000" i="1" dirty="0">
                <a:solidFill>
                  <a:srgbClr val="6F7F90"/>
                </a:solidFill>
                <a:latin typeface="Lato" pitchFamily="34" charset="0"/>
                <a:ea typeface="Lato" pitchFamily="34" charset="-122"/>
                <a:cs typeface="Lato" pitchFamily="34" charset="-120"/>
              </a:rPr>
              <a:t>No data available for this section.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sp>
      <p:sp>
        <p:nvSpPr>
          <p:cNvPr id="3" name="Text 1"/>
          <p:cNvSpPr/>
          <p:nvPr/>
        </p:nvSpPr>
        <p:spPr>
          <a:xfrm>
            <a:off x="640080" y="438912"/>
            <a:ext cx="7132320" cy="365760"/>
          </a:xfrm>
          <a:prstGeom prst="rect">
            <a:avLst/>
          </a:prstGeom>
          <a:noFill/>
          <a:ln/>
        </p:spPr>
        <p:txBody>
          <a:bodyPr wrap="square" rtlCol="0" anchor="ctr"/>
          <a:lstStyle/>
          <a:p>
            <a:pPr indent="0" marL="0">
              <a:buNone/>
            </a:pPr>
            <a:r>
              <a:rPr lang="en-US" sz="2400" b="1" dirty="0">
                <a:solidFill>
                  <a:srgbClr val="223142"/>
                </a:solidFill>
                <a:latin typeface="Montserrat" pitchFamily="34" charset="0"/>
                <a:ea typeface="Montserrat" pitchFamily="34" charset="-122"/>
                <a:cs typeface="Montserrat" pitchFamily="34" charset="-120"/>
              </a:rPr>
              <a:t>Recommendations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indent="0" marL="0">
              <a:buNone/>
            </a:pPr>
            <a:r>
              <a:rPr lang="en-US" sz="1200" dirty="0">
                <a:solidFill>
                  <a:srgbClr val="6F7F90"/>
                </a:solidFill>
                <a:latin typeface="Lato" pitchFamily="34" charset="0"/>
                <a:ea typeface="Lato" pitchFamily="34" charset="-122"/>
                <a:cs typeface="Lato" pitchFamily="34" charset="-120"/>
              </a:rPr>
              <a:t>Priority actions generated from the report evidence and predictive layer.</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algn="r" indent="0" marL="0">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sp>
      <p:sp>
        <p:nvSpPr>
          <p:cNvPr id="7" name="Text 5"/>
          <p:cNvSpPr/>
          <p:nvPr/>
        </p:nvSpPr>
        <p:spPr>
          <a:xfrm>
            <a:off x="804672" y="1545336"/>
            <a:ext cx="10277856" cy="164592"/>
          </a:xfrm>
          <a:prstGeom prst="rect">
            <a:avLst/>
          </a:prstGeom>
          <a:noFill/>
          <a:ln/>
        </p:spPr>
        <p:txBody>
          <a:bodyPr wrap="square" rtlCol="0" anchor="ctr"/>
          <a:lstStyle/>
          <a:p>
            <a:pPr indent="0" marL="0">
              <a:buNone/>
            </a:pPr>
            <a:r>
              <a:rPr lang="en-US" sz="1200" b="1" dirty="0">
                <a:solidFill>
                  <a:srgbClr val="223142"/>
                </a:solidFill>
                <a:latin typeface="Montserrat" pitchFamily="34" charset="0"/>
                <a:ea typeface="Montserrat" pitchFamily="34" charset="-122"/>
                <a:cs typeface="Montserrat" pitchFamily="34" charset="-120"/>
              </a:rPr>
              <a:t>Recommendations</a:t>
            </a:r>
            <a:endParaRPr lang="en-US" sz="1200" dirty="0"/>
          </a:p>
        </p:txBody>
      </p:sp>
      <p:sp>
        <p:nvSpPr>
          <p:cNvPr id="8" name="Shape 6"/>
          <p:cNvSpPr/>
          <p:nvPr/>
        </p:nvSpPr>
        <p:spPr>
          <a:xfrm>
            <a:off x="822960" y="1920240"/>
            <a:ext cx="73152" cy="73152"/>
          </a:xfrm>
          <a:prstGeom prst="ellipse">
            <a:avLst/>
          </a:prstGeom>
          <a:solidFill>
            <a:srgbClr val="475569"/>
          </a:solidFill>
          <a:ln w="12700">
            <a:solidFill>
              <a:srgbClr val="475569"/>
            </a:solidFill>
            <a:prstDash val="solid"/>
          </a:ln>
        </p:spPr>
      </p:sp>
      <p:sp>
        <p:nvSpPr>
          <p:cNvPr id="9" name="Text 7"/>
          <p:cNvSpPr/>
          <p:nvPr/>
        </p:nvSpPr>
        <p:spPr>
          <a:xfrm>
            <a:off x="960120" y="189280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Scale the strongest acquisition engine: Organic Search / google / organic produced 6,848 sessions. Build a repeatable campaign/content plan around this source before add…</a:t>
            </a:r>
            <a:endParaRPr lang="en-US" sz="1100" dirty="0"/>
          </a:p>
        </p:txBody>
      </p:sp>
      <p:sp>
        <p:nvSpPr>
          <p:cNvPr id="10" name="Shape 8"/>
          <p:cNvSpPr/>
          <p:nvPr/>
        </p:nvSpPr>
        <p:spPr>
          <a:xfrm>
            <a:off x="822960" y="2331720"/>
            <a:ext cx="73152" cy="73152"/>
          </a:xfrm>
          <a:prstGeom prst="ellipse">
            <a:avLst/>
          </a:prstGeom>
          <a:solidFill>
            <a:srgbClr val="475569"/>
          </a:solidFill>
          <a:ln w="12700">
            <a:solidFill>
              <a:srgbClr val="475569"/>
            </a:solidFill>
            <a:prstDash val="solid"/>
          </a:ln>
        </p:spPr>
      </p:sp>
      <p:sp>
        <p:nvSpPr>
          <p:cNvPr id="11" name="Text 9"/>
          <p:cNvSpPr/>
          <p:nvPr/>
        </p:nvSpPr>
        <p:spPr>
          <a:xfrm>
            <a:off x="960120" y="230428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Prioritize the primary landing page: / generated 11,774 visits/views. Add a clear next step above the fold and track a dedicated conversion event for this page.</a:t>
            </a:r>
            <a:endParaRPr lang="en-US" sz="1100" dirty="0"/>
          </a:p>
        </p:txBody>
      </p:sp>
      <p:sp>
        <p:nvSpPr>
          <p:cNvPr id="12" name="Shape 10"/>
          <p:cNvSpPr/>
          <p:nvPr/>
        </p:nvSpPr>
        <p:spPr>
          <a:xfrm>
            <a:off x="822960" y="2743200"/>
            <a:ext cx="73152" cy="73152"/>
          </a:xfrm>
          <a:prstGeom prst="ellipse">
            <a:avLst/>
          </a:prstGeom>
          <a:solidFill>
            <a:srgbClr val="475569"/>
          </a:solidFill>
          <a:ln w="12700">
            <a:solidFill>
              <a:srgbClr val="475569"/>
            </a:solidFill>
            <a:prstDash val="solid"/>
          </a:ln>
        </p:spPr>
      </p:sp>
      <p:sp>
        <p:nvSpPr>
          <p:cNvPr id="13" name="Text 11"/>
          <p:cNvSpPr/>
          <p:nvPr/>
        </p:nvSpPr>
        <p:spPr>
          <a:xfrm>
            <a:off x="960120" y="271576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Improve SEO CTR: "online usd loans in zimbabwe" has 441 impressions but only 5.4% CTR. Rewrite the title/meta description around the search intent and include a stronger…</a:t>
            </a:r>
            <a:endParaRPr lang="en-US" sz="1100" dirty="0"/>
          </a:p>
        </p:txBody>
      </p:sp>
      <p:sp>
        <p:nvSpPr>
          <p:cNvPr id="14" name="Shape 12"/>
          <p:cNvSpPr/>
          <p:nvPr/>
        </p:nvSpPr>
        <p:spPr>
          <a:xfrm>
            <a:off x="822960" y="3154680"/>
            <a:ext cx="73152" cy="73152"/>
          </a:xfrm>
          <a:prstGeom prst="ellipse">
            <a:avLst/>
          </a:prstGeom>
          <a:solidFill>
            <a:srgbClr val="475569"/>
          </a:solidFill>
          <a:ln w="12700">
            <a:solidFill>
              <a:srgbClr val="475569"/>
            </a:solidFill>
            <a:prstDash val="solid"/>
          </a:ln>
        </p:spPr>
      </p:sp>
      <p:sp>
        <p:nvSpPr>
          <p:cNvPr id="15" name="Text 13"/>
          <p:cNvSpPr/>
          <p:nvPr/>
        </p:nvSpPr>
        <p:spPr>
          <a:xfrm>
            <a:off x="960120" y="312724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Use returning-user intent: returning users created 12,237 sessions. Add shortcuts for online banking, contact support, and product comparison so repeat visitors complete…</a:t>
            </a:r>
            <a:endParaRPr lang="en-US" sz="1100" dirty="0"/>
          </a:p>
        </p:txBody>
      </p:sp>
      <p:sp>
        <p:nvSpPr>
          <p:cNvPr id="16" name="Shape 14"/>
          <p:cNvSpPr/>
          <p:nvPr/>
        </p:nvSpPr>
        <p:spPr>
          <a:xfrm>
            <a:off x="822960" y="3566160"/>
            <a:ext cx="73152" cy="73152"/>
          </a:xfrm>
          <a:prstGeom prst="ellipse">
            <a:avLst/>
          </a:prstGeom>
          <a:solidFill>
            <a:srgbClr val="475569"/>
          </a:solidFill>
          <a:ln w="12700">
            <a:solidFill>
              <a:srgbClr val="475569"/>
            </a:solidFill>
            <a:prstDash val="solid"/>
          </a:ln>
        </p:spPr>
      </p:sp>
      <p:sp>
        <p:nvSpPr>
          <p:cNvPr id="17" name="Text 15"/>
          <p:cNvSpPr/>
          <p:nvPr/>
        </p:nvSpPr>
        <p:spPr>
          <a:xfrm>
            <a:off x="960120" y="353872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Tracking gap: no conversions are recorded for this period. Configure GA4 key events for form submits, online banking clicks, phone/email taps, and high-intent CTA clicks…</a:t>
            </a:r>
            <a:endParaRPr lang="en-US" sz="1100" dirty="0"/>
          </a:p>
        </p:txBody>
      </p:sp>
      <p:sp>
        <p:nvSpPr>
          <p:cNvPr id="18" name="Shape 16"/>
          <p:cNvSpPr/>
          <p:nvPr/>
        </p:nvSpPr>
        <p:spPr>
          <a:xfrm>
            <a:off x="822960" y="3977640"/>
            <a:ext cx="73152" cy="73152"/>
          </a:xfrm>
          <a:prstGeom prst="ellipse">
            <a:avLst/>
          </a:prstGeom>
          <a:solidFill>
            <a:srgbClr val="475569"/>
          </a:solidFill>
          <a:ln w="12700">
            <a:solidFill>
              <a:srgbClr val="475569"/>
            </a:solidFill>
            <a:prstDash val="solid"/>
          </a:ln>
        </p:spPr>
      </p:sp>
      <p:sp>
        <p:nvSpPr>
          <p:cNvPr id="19" name="Text 17"/>
          <p:cNvSpPr/>
          <p:nvPr/>
        </p:nvSpPr>
        <p:spPr>
          <a:xfrm>
            <a:off x="960120" y="395020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Turn the forecast into a plan: Users is projected to move +32.9% over the next 30 days. Set a weekly target and assign one owner to capture that upside instead of leavin…</a:t>
            </a:r>
            <a:endParaRPr lang="en-US" sz="1100" dirty="0"/>
          </a:p>
        </p:txBody>
      </p:sp>
      <p:sp>
        <p:nvSpPr>
          <p:cNvPr id="20" name="Shape 18"/>
          <p:cNvSpPr/>
          <p:nvPr/>
        </p:nvSpPr>
        <p:spPr>
          <a:xfrm>
            <a:off x="822960" y="4389120"/>
            <a:ext cx="73152" cy="73152"/>
          </a:xfrm>
          <a:prstGeom prst="ellipse">
            <a:avLst/>
          </a:prstGeom>
          <a:solidFill>
            <a:srgbClr val="475569"/>
          </a:solidFill>
          <a:ln w="12700">
            <a:solidFill>
              <a:srgbClr val="475569"/>
            </a:solidFill>
            <a:prstDash val="solid"/>
          </a:ln>
        </p:spPr>
      </p:sp>
      <p:sp>
        <p:nvSpPr>
          <p:cNvPr id="21" name="Text 19"/>
          <p:cNvSpPr/>
          <p:nvPr/>
        </p:nvSpPr>
        <p:spPr>
          <a:xfrm>
            <a:off x="960120" y="436168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Build a cluster for online loans in Zimbabwe: Create one primary loan page focused on the cluster intent, not a single keyword. Support it with FAQs, subheadings, and in…</a:t>
            </a:r>
            <a:endParaRPr lang="en-US" sz="1100" dirty="0"/>
          </a:p>
        </p:txBody>
      </p:sp>
      <p:sp>
        <p:nvSpPr>
          <p:cNvPr id="22" name="Shape 20"/>
          <p:cNvSpPr/>
          <p:nvPr/>
        </p:nvSpPr>
        <p:spPr>
          <a:xfrm>
            <a:off x="822960" y="4800600"/>
            <a:ext cx="73152" cy="73152"/>
          </a:xfrm>
          <a:prstGeom prst="ellipse">
            <a:avLst/>
          </a:prstGeom>
          <a:solidFill>
            <a:srgbClr val="475569"/>
          </a:solidFill>
          <a:ln w="12700">
            <a:solidFill>
              <a:srgbClr val="475569"/>
            </a:solidFill>
            <a:prstDash val="solid"/>
          </a:ln>
        </p:spPr>
      </p:sp>
      <p:sp>
        <p:nvSpPr>
          <p:cNvPr id="23" name="Text 21"/>
          <p:cNvSpPr/>
          <p:nvPr/>
        </p:nvSpPr>
        <p:spPr>
          <a:xfrm>
            <a:off x="960120" y="4773168"/>
            <a:ext cx="10104120" cy="310896"/>
          </a:xfrm>
          <a:prstGeom prst="rect">
            <a:avLst/>
          </a:prstGeom>
          <a:noFill/>
          <a:ln/>
        </p:spPr>
        <p:txBody>
          <a:bodyPr wrap="square" rtlCol="0" anchor="t"/>
          <a:lstStyle/>
          <a:p>
            <a:pPr indent="0" marL="0">
              <a:buNone/>
            </a:pPr>
            <a:r>
              <a:rPr lang="en-US" sz="1100" dirty="0">
                <a:solidFill>
                  <a:srgbClr val="223142"/>
                </a:solidFill>
                <a:latin typeface="Lato" pitchFamily="34" charset="0"/>
                <a:ea typeface="Lato" pitchFamily="34" charset="-122"/>
                <a:cs typeface="Lato" pitchFamily="34" charset="-120"/>
              </a:rPr>
              <a:t>Strengthen brand-adjacent non-branded discoverability: Create or refresh a page that targets the broader cybertech bank cluster. Include related variants in headings, FA…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ReportGen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 15, 2026 - Jul 15, 2026 report</dc:title>
  <dc:subject>Analytics report</dc:subject>
  <dc:creator>ReportGen</dc:creator>
  <cp:lastModifiedBy>ReportGen</cp:lastModifiedBy>
  <cp:revision>1</cp:revision>
  <dcterms:created xsi:type="dcterms:W3CDTF">2026-07-20T15:38:12Z</dcterms:created>
  <dcterms:modified xsi:type="dcterms:W3CDTF">2026-07-20T15:38:12Z</dcterms:modified>
</cp:coreProperties>
</file>