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1" r:id="rId14"/>
    <p:sldId id="272" r:id="rId15"/>
    <p:sldId id="273" r:id="rId16"/>
    <p:sldId id="274"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160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142"/>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75569"/>
          </a:solidFill>
          <a:ln w="12700">
            <a:solidFill>
              <a:srgbClr val="475569"/>
            </a:solidFill>
            <a:prstDash val="solid"/>
          </a:ln>
        </p:spPr>
        <p:txBody>
          <a:bodyPr/>
          <a:lstStyle/>
          <a:p>
            <a:endParaRPr lang="en-US"/>
          </a:p>
        </p:txBody>
      </p:sp>
      <p:sp>
        <p:nvSpPr>
          <p:cNvPr id="3" name="Shape 1"/>
          <p:cNvSpPr/>
          <p:nvPr/>
        </p:nvSpPr>
        <p:spPr>
          <a:xfrm>
            <a:off x="8138160" y="502920"/>
            <a:ext cx="3246120" cy="5623560"/>
          </a:xfrm>
          <a:prstGeom prst="rect">
            <a:avLst/>
          </a:prstGeom>
          <a:solidFill>
            <a:srgbClr val="204A44">
              <a:alpha val="86000"/>
            </a:srgbClr>
          </a:solidFill>
          <a:ln w="12700">
            <a:solidFill>
              <a:srgbClr val="204A44">
                <a:alpha val="0"/>
              </a:srgbClr>
            </a:solidFill>
            <a:prstDash val="solid"/>
          </a:ln>
        </p:spPr>
        <p:txBody>
          <a:bodyPr/>
          <a:lstStyle/>
          <a:p>
            <a:endParaRPr lang="en-US"/>
          </a:p>
        </p:txBody>
      </p:sp>
      <p:sp>
        <p:nvSpPr>
          <p:cNvPr id="4" name="Text 2"/>
          <p:cNvSpPr/>
          <p:nvPr/>
        </p:nvSpPr>
        <p:spPr>
          <a:xfrm>
            <a:off x="640080" y="502920"/>
            <a:ext cx="2011680" cy="320040"/>
          </a:xfrm>
          <a:prstGeom prst="rect">
            <a:avLst/>
          </a:prstGeom>
          <a:noFill/>
          <a:ln/>
        </p:spPr>
        <p:txBody>
          <a:bodyPr wrap="square" rtlCol="0" anchor="ctr"/>
          <a:lstStyle/>
          <a:p>
            <a:pPr marL="0" indent="0">
              <a:buNone/>
            </a:pPr>
            <a:r>
              <a:rPr lang="en-US" sz="1400" b="1" dirty="0">
                <a:solidFill>
                  <a:srgbClr val="475569"/>
                </a:solidFill>
                <a:latin typeface="Montserrat" pitchFamily="34" charset="0"/>
                <a:ea typeface="Montserrat" pitchFamily="34" charset="-122"/>
                <a:cs typeface="Montserrat" pitchFamily="34" charset="-120"/>
              </a:rPr>
              <a:t>ReportGen</a:t>
            </a:r>
            <a:endParaRPr lang="en-US" sz="1400" dirty="0"/>
          </a:p>
        </p:txBody>
      </p:sp>
      <p:sp>
        <p:nvSpPr>
          <p:cNvPr id="5" name="Text 3"/>
          <p:cNvSpPr/>
          <p:nvPr/>
        </p:nvSpPr>
        <p:spPr>
          <a:xfrm>
            <a:off x="640080" y="1051560"/>
            <a:ext cx="4389120" cy="594360"/>
          </a:xfrm>
          <a:prstGeom prst="rect">
            <a:avLst/>
          </a:prstGeom>
          <a:noFill/>
          <a:ln/>
        </p:spPr>
        <p:txBody>
          <a:bodyPr wrap="square" rtlCol="0" anchor="ctr"/>
          <a:lstStyle/>
          <a:p>
            <a:pPr marL="0" indent="0">
              <a:buNone/>
            </a:pPr>
            <a:r>
              <a:rPr lang="en-US" sz="2600" b="1" dirty="0">
                <a:solidFill>
                  <a:srgbClr val="FFFFFF"/>
                </a:solidFill>
                <a:latin typeface="Montserrat" pitchFamily="34" charset="0"/>
                <a:ea typeface="Montserrat" pitchFamily="34" charset="-122"/>
                <a:cs typeface="Montserrat" pitchFamily="34" charset="-120"/>
              </a:rPr>
              <a:t>Analytics Report</a:t>
            </a:r>
            <a:endParaRPr lang="en-US" sz="2600" dirty="0"/>
          </a:p>
        </p:txBody>
      </p:sp>
      <p:sp>
        <p:nvSpPr>
          <p:cNvPr id="6" name="Text 4"/>
          <p:cNvSpPr/>
          <p:nvPr/>
        </p:nvSpPr>
        <p:spPr>
          <a:xfrm>
            <a:off x="640080" y="1783080"/>
            <a:ext cx="4389120" cy="320040"/>
          </a:xfrm>
          <a:prstGeom prst="rect">
            <a:avLst/>
          </a:prstGeom>
          <a:noFill/>
          <a:ln/>
        </p:spPr>
        <p:txBody>
          <a:bodyPr wrap="square" rtlCol="0" anchor="ctr"/>
          <a:lstStyle/>
          <a:p>
            <a:pPr marL="0" indent="0">
              <a:buNone/>
            </a:pPr>
            <a:r>
              <a:rPr lang="en-US" sz="1600" dirty="0">
                <a:solidFill>
                  <a:srgbClr val="B6D6D1"/>
                </a:solidFill>
                <a:latin typeface="Lato" pitchFamily="34" charset="0"/>
                <a:ea typeface="Lato" pitchFamily="34" charset="-122"/>
                <a:cs typeface="Lato" pitchFamily="34" charset="-120"/>
              </a:rPr>
              <a:t>TN</a:t>
            </a:r>
            <a:endParaRPr lang="en-US" sz="1600" dirty="0"/>
          </a:p>
        </p:txBody>
      </p:sp>
      <p:sp>
        <p:nvSpPr>
          <p:cNvPr id="7" name="Text 5"/>
          <p:cNvSpPr/>
          <p:nvPr/>
        </p:nvSpPr>
        <p:spPr>
          <a:xfrm>
            <a:off x="640080" y="2148840"/>
            <a:ext cx="4389120" cy="320040"/>
          </a:xfrm>
          <a:prstGeom prst="rect">
            <a:avLst/>
          </a:prstGeom>
          <a:noFill/>
          <a:ln/>
        </p:spPr>
        <p:txBody>
          <a:bodyPr wrap="square" rtlCol="0" anchor="ctr"/>
          <a:lstStyle/>
          <a:p>
            <a:pPr marL="0" indent="0">
              <a:buNone/>
            </a:pPr>
            <a:r>
              <a:rPr lang="en-US" sz="1300" dirty="0">
                <a:solidFill>
                  <a:srgbClr val="91C9C0"/>
                </a:solidFill>
                <a:latin typeface="Lato" pitchFamily="34" charset="0"/>
                <a:ea typeface="Lato" pitchFamily="34" charset="-122"/>
                <a:cs typeface="Lato" pitchFamily="34" charset="-120"/>
              </a:rPr>
              <a:t>Jun 15, 2026 - Jul 15, 2026</a:t>
            </a:r>
            <a:endParaRPr lang="en-US" sz="1300" dirty="0"/>
          </a:p>
        </p:txBody>
      </p:sp>
      <p:sp>
        <p:nvSpPr>
          <p:cNvPr id="8" name="Text 6"/>
          <p:cNvSpPr/>
          <p:nvPr/>
        </p:nvSpPr>
        <p:spPr>
          <a:xfrm>
            <a:off x="640080" y="2743200"/>
            <a:ext cx="5120640" cy="1143000"/>
          </a:xfrm>
          <a:prstGeom prst="rect">
            <a:avLst/>
          </a:prstGeom>
          <a:noFill/>
          <a:ln/>
        </p:spPr>
        <p:txBody>
          <a:bodyPr wrap="square" rtlCol="0" anchor="t"/>
          <a:lstStyle/>
          <a:p>
            <a:pPr marL="0" indent="0">
              <a:buNone/>
            </a:pPr>
            <a:r>
              <a:rPr lang="en-US" sz="1600" dirty="0">
                <a:solidFill>
                  <a:srgbClr val="FFFFFF"/>
                </a:solidFill>
                <a:latin typeface="Lato" pitchFamily="34" charset="0"/>
                <a:ea typeface="Lato" pitchFamily="34" charset="-122"/>
                <a:cs typeface="Lato" pitchFamily="34" charset="-120"/>
              </a:rPr>
              <a:t>Jun 15, 2026 - Jul 15, 2026 performance generated 16881 sessions (+29.8% vs previous period), 6159 organic search clicks, and 0 tracked conversions.</a:t>
            </a:r>
            <a:endParaRPr lang="en-US" sz="1600" dirty="0"/>
          </a:p>
        </p:txBody>
      </p:sp>
      <p:sp>
        <p:nvSpPr>
          <p:cNvPr id="9" name="Shape 7"/>
          <p:cNvSpPr/>
          <p:nvPr/>
        </p:nvSpPr>
        <p:spPr>
          <a:xfrm>
            <a:off x="640080" y="4297680"/>
            <a:ext cx="1188720" cy="347472"/>
          </a:xfrm>
          <a:prstGeom prst="roundRect">
            <a:avLst>
              <a:gd name="adj" fmla="val 21053"/>
            </a:avLst>
          </a:prstGeom>
          <a:solidFill>
            <a:srgbClr val="475569"/>
          </a:solidFill>
          <a:ln w="12700">
            <a:solidFill>
              <a:srgbClr val="475569"/>
            </a:solidFill>
            <a:prstDash val="solid"/>
          </a:ln>
        </p:spPr>
        <p:txBody>
          <a:bodyPr/>
          <a:lstStyle/>
          <a:p>
            <a:endParaRPr lang="en-US"/>
          </a:p>
        </p:txBody>
      </p:sp>
      <p:sp>
        <p:nvSpPr>
          <p:cNvPr id="10" name="Text 8"/>
          <p:cNvSpPr/>
          <p:nvPr/>
        </p:nvSpPr>
        <p:spPr>
          <a:xfrm>
            <a:off x="640080" y="4379976"/>
            <a:ext cx="1188720" cy="146304"/>
          </a:xfrm>
          <a:prstGeom prst="rect">
            <a:avLst/>
          </a:prstGeom>
          <a:noFill/>
          <a:ln/>
        </p:spPr>
        <p:txBody>
          <a:bodyPr wrap="square" rtlCol="0" anchor="ctr"/>
          <a:lstStyle/>
          <a:p>
            <a:pPr marL="0" indent="0" algn="ctr">
              <a:buNone/>
            </a:pPr>
            <a:r>
              <a:rPr lang="en-US" sz="900" b="1" dirty="0">
                <a:solidFill>
                  <a:srgbClr val="FFFFFF"/>
                </a:solidFill>
                <a:latin typeface="Montserrat" pitchFamily="34" charset="0"/>
                <a:ea typeface="Montserrat" pitchFamily="34" charset="-122"/>
                <a:cs typeface="Montserrat" pitchFamily="34" charset="-120"/>
              </a:rPr>
              <a:t>READY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Executive Summary</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Jun 15, 2026 - Jul 15, 2026 performance generated 16881 sessions (+29.8% vs previous period), 6159 organic search clicks, and 0 tracked conversions.</a:t>
            </a:r>
            <a:endParaRPr lang="en-US" sz="1200" dirty="0"/>
          </a:p>
        </p:txBody>
      </p:sp>
      <p:sp>
        <p:nvSpPr>
          <p:cNvPr id="6" name="Shape 4"/>
          <p:cNvSpPr/>
          <p:nvPr/>
        </p:nvSpPr>
        <p:spPr>
          <a:xfrm>
            <a:off x="640080" y="1417320"/>
            <a:ext cx="2514600" cy="1005840"/>
          </a:xfrm>
          <a:prstGeom prst="roundRect">
            <a:avLst>
              <a:gd name="adj" fmla="val 7273"/>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22960" y="1618488"/>
            <a:ext cx="1920240" cy="164592"/>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Users</a:t>
            </a:r>
            <a:endParaRPr lang="en-US" sz="1000" dirty="0"/>
          </a:p>
        </p:txBody>
      </p:sp>
      <p:sp>
        <p:nvSpPr>
          <p:cNvPr id="8" name="Text 6"/>
          <p:cNvSpPr/>
          <p:nvPr/>
        </p:nvSpPr>
        <p:spPr>
          <a:xfrm>
            <a:off x="822960" y="1847088"/>
            <a:ext cx="1920240" cy="292608"/>
          </a:xfrm>
          <a:prstGeom prst="rect">
            <a:avLst/>
          </a:prstGeom>
          <a:noFill/>
          <a:ln/>
        </p:spPr>
        <p:txBody>
          <a:bodyPr wrap="square" rtlCol="0" anchor="ctr"/>
          <a:lstStyle/>
          <a:p>
            <a:pPr marL="0" indent="0">
              <a:buNone/>
            </a:pPr>
            <a:r>
              <a:rPr lang="en-US" sz="2000" b="1" dirty="0">
                <a:solidFill>
                  <a:srgbClr val="223142"/>
                </a:solidFill>
                <a:latin typeface="Montserrat" pitchFamily="34" charset="0"/>
                <a:ea typeface="Montserrat" pitchFamily="34" charset="-122"/>
                <a:cs typeface="Montserrat" pitchFamily="34" charset="-120"/>
              </a:rPr>
              <a:t>5.3K</a:t>
            </a:r>
            <a:endParaRPr lang="en-US" sz="2000" dirty="0"/>
          </a:p>
        </p:txBody>
      </p:sp>
      <p:sp>
        <p:nvSpPr>
          <p:cNvPr id="9" name="Shape 7"/>
          <p:cNvSpPr/>
          <p:nvPr/>
        </p:nvSpPr>
        <p:spPr>
          <a:xfrm>
            <a:off x="3429000" y="1417320"/>
            <a:ext cx="2514600" cy="1005840"/>
          </a:xfrm>
          <a:prstGeom prst="roundRect">
            <a:avLst>
              <a:gd name="adj" fmla="val 7273"/>
            </a:avLst>
          </a:prstGeom>
          <a:solidFill>
            <a:srgbClr val="F8FAFC"/>
          </a:solidFill>
          <a:ln w="12700">
            <a:solidFill>
              <a:srgbClr val="D7E1EA"/>
            </a:solidFill>
            <a:prstDash val="solid"/>
          </a:ln>
        </p:spPr>
        <p:txBody>
          <a:bodyPr/>
          <a:lstStyle/>
          <a:p>
            <a:endParaRPr lang="en-US"/>
          </a:p>
        </p:txBody>
      </p:sp>
      <p:sp>
        <p:nvSpPr>
          <p:cNvPr id="10" name="Text 8"/>
          <p:cNvSpPr/>
          <p:nvPr/>
        </p:nvSpPr>
        <p:spPr>
          <a:xfrm>
            <a:off x="3611880" y="1618488"/>
            <a:ext cx="1920240" cy="164592"/>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Sessions</a:t>
            </a:r>
            <a:endParaRPr lang="en-US" sz="1000" dirty="0"/>
          </a:p>
        </p:txBody>
      </p:sp>
      <p:sp>
        <p:nvSpPr>
          <p:cNvPr id="11" name="Text 9"/>
          <p:cNvSpPr/>
          <p:nvPr/>
        </p:nvSpPr>
        <p:spPr>
          <a:xfrm>
            <a:off x="3611880" y="1847088"/>
            <a:ext cx="1920240" cy="292608"/>
          </a:xfrm>
          <a:prstGeom prst="rect">
            <a:avLst/>
          </a:prstGeom>
          <a:noFill/>
          <a:ln/>
        </p:spPr>
        <p:txBody>
          <a:bodyPr wrap="square" rtlCol="0" anchor="ctr"/>
          <a:lstStyle/>
          <a:p>
            <a:pPr marL="0" indent="0">
              <a:buNone/>
            </a:pPr>
            <a:r>
              <a:rPr lang="en-US" sz="2000" b="1" dirty="0">
                <a:solidFill>
                  <a:srgbClr val="223142"/>
                </a:solidFill>
                <a:latin typeface="Montserrat" pitchFamily="34" charset="0"/>
                <a:ea typeface="Montserrat" pitchFamily="34" charset="-122"/>
                <a:cs typeface="Montserrat" pitchFamily="34" charset="-120"/>
              </a:rPr>
              <a:t>16.9K</a:t>
            </a:r>
            <a:endParaRPr lang="en-US" sz="2000" dirty="0"/>
          </a:p>
        </p:txBody>
      </p:sp>
      <p:sp>
        <p:nvSpPr>
          <p:cNvPr id="12" name="Shape 10"/>
          <p:cNvSpPr/>
          <p:nvPr/>
        </p:nvSpPr>
        <p:spPr>
          <a:xfrm>
            <a:off x="6217920" y="1417320"/>
            <a:ext cx="2514600" cy="1005840"/>
          </a:xfrm>
          <a:prstGeom prst="roundRect">
            <a:avLst>
              <a:gd name="adj" fmla="val 7273"/>
            </a:avLst>
          </a:prstGeom>
          <a:solidFill>
            <a:srgbClr val="F8FAFC"/>
          </a:solidFill>
          <a:ln w="12700">
            <a:solidFill>
              <a:srgbClr val="D7E1EA"/>
            </a:solidFill>
            <a:prstDash val="solid"/>
          </a:ln>
        </p:spPr>
        <p:txBody>
          <a:bodyPr/>
          <a:lstStyle/>
          <a:p>
            <a:endParaRPr lang="en-US"/>
          </a:p>
        </p:txBody>
      </p:sp>
      <p:sp>
        <p:nvSpPr>
          <p:cNvPr id="13" name="Text 11"/>
          <p:cNvSpPr/>
          <p:nvPr/>
        </p:nvSpPr>
        <p:spPr>
          <a:xfrm>
            <a:off x="6400800" y="1618488"/>
            <a:ext cx="1920240" cy="164592"/>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Organic clicks</a:t>
            </a:r>
            <a:endParaRPr lang="en-US" sz="1000" dirty="0"/>
          </a:p>
        </p:txBody>
      </p:sp>
      <p:sp>
        <p:nvSpPr>
          <p:cNvPr id="14" name="Text 12"/>
          <p:cNvSpPr/>
          <p:nvPr/>
        </p:nvSpPr>
        <p:spPr>
          <a:xfrm>
            <a:off x="6400800" y="1847088"/>
            <a:ext cx="1920240" cy="292608"/>
          </a:xfrm>
          <a:prstGeom prst="rect">
            <a:avLst/>
          </a:prstGeom>
          <a:noFill/>
          <a:ln/>
        </p:spPr>
        <p:txBody>
          <a:bodyPr wrap="square" rtlCol="0" anchor="ctr"/>
          <a:lstStyle/>
          <a:p>
            <a:pPr marL="0" indent="0">
              <a:buNone/>
            </a:pPr>
            <a:r>
              <a:rPr lang="en-US" sz="2000" b="1" dirty="0">
                <a:solidFill>
                  <a:srgbClr val="223142"/>
                </a:solidFill>
                <a:latin typeface="Montserrat" pitchFamily="34" charset="0"/>
                <a:ea typeface="Montserrat" pitchFamily="34" charset="-122"/>
                <a:cs typeface="Montserrat" pitchFamily="34" charset="-120"/>
              </a:rPr>
              <a:t>6.2K</a:t>
            </a:r>
            <a:endParaRPr lang="en-US" sz="2000" dirty="0"/>
          </a:p>
        </p:txBody>
      </p:sp>
      <p:sp>
        <p:nvSpPr>
          <p:cNvPr id="15" name="Shape 13"/>
          <p:cNvSpPr/>
          <p:nvPr/>
        </p:nvSpPr>
        <p:spPr>
          <a:xfrm>
            <a:off x="9006840" y="1417320"/>
            <a:ext cx="2514600" cy="1005840"/>
          </a:xfrm>
          <a:prstGeom prst="roundRect">
            <a:avLst>
              <a:gd name="adj" fmla="val 7273"/>
            </a:avLst>
          </a:prstGeom>
          <a:solidFill>
            <a:srgbClr val="F8FAFC"/>
          </a:solidFill>
          <a:ln w="12700">
            <a:solidFill>
              <a:srgbClr val="D7E1EA"/>
            </a:solidFill>
            <a:prstDash val="solid"/>
          </a:ln>
        </p:spPr>
        <p:txBody>
          <a:bodyPr/>
          <a:lstStyle/>
          <a:p>
            <a:endParaRPr lang="en-US"/>
          </a:p>
        </p:txBody>
      </p:sp>
      <p:sp>
        <p:nvSpPr>
          <p:cNvPr id="16" name="Text 14"/>
          <p:cNvSpPr/>
          <p:nvPr/>
        </p:nvSpPr>
        <p:spPr>
          <a:xfrm>
            <a:off x="9189720" y="1618488"/>
            <a:ext cx="1920240" cy="164592"/>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Conversions</a:t>
            </a:r>
            <a:endParaRPr lang="en-US" sz="1000" dirty="0"/>
          </a:p>
        </p:txBody>
      </p:sp>
      <p:sp>
        <p:nvSpPr>
          <p:cNvPr id="17" name="Text 15"/>
          <p:cNvSpPr/>
          <p:nvPr/>
        </p:nvSpPr>
        <p:spPr>
          <a:xfrm>
            <a:off x="9189720" y="1847088"/>
            <a:ext cx="1920240" cy="292608"/>
          </a:xfrm>
          <a:prstGeom prst="rect">
            <a:avLst/>
          </a:prstGeom>
          <a:noFill/>
          <a:ln/>
        </p:spPr>
        <p:txBody>
          <a:bodyPr wrap="square" rtlCol="0" anchor="ctr"/>
          <a:lstStyle/>
          <a:p>
            <a:pPr marL="0" indent="0">
              <a:buNone/>
            </a:pPr>
            <a:r>
              <a:rPr lang="en-US" sz="2000" b="1" dirty="0">
                <a:solidFill>
                  <a:srgbClr val="223142"/>
                </a:solidFill>
                <a:latin typeface="Montserrat" pitchFamily="34" charset="0"/>
                <a:ea typeface="Montserrat" pitchFamily="34" charset="-122"/>
                <a:cs typeface="Montserrat" pitchFamily="34" charset="-120"/>
              </a:rPr>
              <a:t>0</a:t>
            </a:r>
            <a:endParaRPr lang="en-US" sz="2000" dirty="0"/>
          </a:p>
        </p:txBody>
      </p:sp>
      <p:sp>
        <p:nvSpPr>
          <p:cNvPr id="18" name="Shape 16"/>
          <p:cNvSpPr/>
          <p:nvPr/>
        </p:nvSpPr>
        <p:spPr>
          <a:xfrm>
            <a:off x="640080" y="2834640"/>
            <a:ext cx="5486400" cy="2468880"/>
          </a:xfrm>
          <a:prstGeom prst="roundRect">
            <a:avLst>
              <a:gd name="adj" fmla="val 1852"/>
            </a:avLst>
          </a:prstGeom>
          <a:solidFill>
            <a:srgbClr val="F8FAFC"/>
          </a:solidFill>
          <a:ln w="12700">
            <a:solidFill>
              <a:srgbClr val="D7E1EA"/>
            </a:solidFill>
            <a:prstDash val="solid"/>
          </a:ln>
        </p:spPr>
        <p:txBody>
          <a:bodyPr/>
          <a:lstStyle/>
          <a:p>
            <a:endParaRPr lang="en-US"/>
          </a:p>
        </p:txBody>
      </p:sp>
      <p:sp>
        <p:nvSpPr>
          <p:cNvPr id="19" name="Text 17"/>
          <p:cNvSpPr/>
          <p:nvPr/>
        </p:nvSpPr>
        <p:spPr>
          <a:xfrm>
            <a:off x="804672" y="2962656"/>
            <a:ext cx="515721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Key recommendations</a:t>
            </a:r>
            <a:endParaRPr lang="en-US" sz="1200" dirty="0"/>
          </a:p>
        </p:txBody>
      </p:sp>
      <p:sp>
        <p:nvSpPr>
          <p:cNvPr id="20" name="Text 18"/>
          <p:cNvSpPr/>
          <p:nvPr/>
        </p:nvSpPr>
        <p:spPr>
          <a:xfrm>
            <a:off x="841248" y="3273552"/>
            <a:ext cx="5084064" cy="1865376"/>
          </a:xfrm>
          <a:prstGeom prst="rect">
            <a:avLst/>
          </a:prstGeom>
          <a:noFill/>
          <a:ln/>
        </p:spPr>
        <p:txBody>
          <a:bodyPr wrap="square" lIns="508" tIns="508" rIns="508" bIns="508" rtlCol="0" anchor="t">
            <a:normAutofit/>
          </a:bodyPr>
          <a:lstStyle/>
          <a:p>
            <a:pPr marL="177800" indent="-177800">
              <a:buSzPct val="100000"/>
              <a:buChar char="•"/>
            </a:pPr>
            <a:r>
              <a:rPr lang="en-US" sz="1100" dirty="0">
                <a:solidFill>
                  <a:srgbClr val="223142"/>
                </a:solidFill>
                <a:latin typeface="Lato" pitchFamily="34" charset="0"/>
                <a:ea typeface="Lato" pitchFamily="34" charset="-122"/>
                <a:cs typeface="Lato" pitchFamily="34" charset="-120"/>
              </a:rPr>
              <a:t>Scale the strongest acquisition engine: Organic Search / google / organic produced 6,848 sessions. Build a repeatable campaign/content plan around this source before adding lower-performing channels.</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Prioritize the primary landing page: / generated 11,774 visits/views. Add a clear next step above the fold and track a dedicated conversion event for this page.</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Improve SEO CTR: "online usd loans in zimbabwe" has 441 impressions but only 5.4% CTR. Rewrite the title/meta description around the search intent and include a stronger banking trust signal.</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Use returning-user intent: returning users created 12,237 sessions. Add shortcuts for online banking, contact support, and product comparison so repeat visitors complete tasks faster.</a:t>
            </a:r>
            <a:endParaRPr lang="en-US" sz="1100" dirty="0"/>
          </a:p>
        </p:txBody>
      </p:sp>
      <p:sp>
        <p:nvSpPr>
          <p:cNvPr id="21" name="Shape 19"/>
          <p:cNvSpPr/>
          <p:nvPr/>
        </p:nvSpPr>
        <p:spPr>
          <a:xfrm>
            <a:off x="6446520" y="2834640"/>
            <a:ext cx="4754880" cy="2468880"/>
          </a:xfrm>
          <a:prstGeom prst="roundRect">
            <a:avLst>
              <a:gd name="adj" fmla="val 1852"/>
            </a:avLst>
          </a:prstGeom>
          <a:solidFill>
            <a:srgbClr val="F8FAFC"/>
          </a:solidFill>
          <a:ln w="12700">
            <a:solidFill>
              <a:srgbClr val="D7E1EA"/>
            </a:solidFill>
            <a:prstDash val="solid"/>
          </a:ln>
        </p:spPr>
        <p:txBody>
          <a:bodyPr/>
          <a:lstStyle/>
          <a:p>
            <a:endParaRPr lang="en-US"/>
          </a:p>
        </p:txBody>
      </p:sp>
      <p:sp>
        <p:nvSpPr>
          <p:cNvPr id="22" name="Text 20"/>
          <p:cNvSpPr/>
          <p:nvPr/>
        </p:nvSpPr>
        <p:spPr>
          <a:xfrm>
            <a:off x="6611112" y="2962656"/>
            <a:ext cx="442569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Predictive focus</a:t>
            </a:r>
            <a:endParaRPr lang="en-US" sz="1200" dirty="0"/>
          </a:p>
        </p:txBody>
      </p:sp>
      <p:sp>
        <p:nvSpPr>
          <p:cNvPr id="23" name="Text 21"/>
          <p:cNvSpPr/>
          <p:nvPr/>
        </p:nvSpPr>
        <p:spPr>
          <a:xfrm>
            <a:off x="6647688" y="3273552"/>
            <a:ext cx="4352544" cy="1865376"/>
          </a:xfrm>
          <a:prstGeom prst="rect">
            <a:avLst/>
          </a:prstGeom>
          <a:noFill/>
          <a:ln/>
        </p:spPr>
        <p:txBody>
          <a:bodyPr wrap="square" lIns="508" tIns="508" rIns="508" bIns="508" rtlCol="0" anchor="t">
            <a:normAutofit/>
          </a:bodyPr>
          <a:lstStyle/>
          <a:p>
            <a:pPr marL="177800" indent="-177800">
              <a:buSzPct val="100000"/>
              <a:buChar char="•"/>
            </a:pPr>
            <a:r>
              <a:rPr lang="en-US" sz="1100" dirty="0">
                <a:solidFill>
                  <a:srgbClr val="223142"/>
                </a:solidFill>
                <a:latin typeface="Lato" pitchFamily="34" charset="0"/>
                <a:ea typeface="Lato" pitchFamily="34" charset="-122"/>
                <a:cs typeface="Lato" pitchFamily="34" charset="-120"/>
              </a:rPr>
              <a:t>Build authority around "cybertech bank"</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Build authority around "tn cybertech"</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Improve conversion path on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Traffic Quality and Sources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The period generated 16,881 sessions, 5,312 users, and 70,268 page views. Referral was the leading traffic source with 7,864 sessions, while Mobile led device usage with 3,464 users.</a:t>
            </a:r>
            <a:endParaRPr lang="en-US" sz="12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Users</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5.3K</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0" name="Text 8"/>
          <p:cNvSpPr/>
          <p:nvPr/>
        </p:nvSpPr>
        <p:spPr>
          <a:xfrm>
            <a:off x="3566160"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Sessions</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16.9K</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3" name="Text 11"/>
          <p:cNvSpPr/>
          <p:nvPr/>
        </p:nvSpPr>
        <p:spPr>
          <a:xfrm>
            <a:off x="6327648"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Page views</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70.3K</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6" name="Text 14"/>
          <p:cNvSpPr/>
          <p:nvPr/>
        </p:nvSpPr>
        <p:spPr>
          <a:xfrm>
            <a:off x="9089136"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Engagement</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87.1%</a:t>
            </a:r>
            <a:endParaRPr lang="en-US" sz="1800" dirty="0"/>
          </a:p>
        </p:txBody>
      </p:sp>
      <p:sp>
        <p:nvSpPr>
          <p:cNvPr id="18" name="Shape 16"/>
          <p:cNvSpPr/>
          <p:nvPr/>
        </p:nvSpPr>
        <p:spPr>
          <a:xfrm>
            <a:off x="640080" y="2331720"/>
            <a:ext cx="5212080" cy="2468880"/>
          </a:xfrm>
          <a:prstGeom prst="roundRect">
            <a:avLst>
              <a:gd name="adj" fmla="val 1852"/>
            </a:avLst>
          </a:prstGeom>
          <a:solidFill>
            <a:srgbClr val="F8FAFC"/>
          </a:solidFill>
          <a:ln w="12700">
            <a:solidFill>
              <a:srgbClr val="D7E1EA"/>
            </a:solidFill>
            <a:prstDash val="solid"/>
          </a:ln>
        </p:spPr>
        <p:txBody>
          <a:bodyPr/>
          <a:lstStyle/>
          <a:p>
            <a:endParaRPr lang="en-US"/>
          </a:p>
        </p:txBody>
      </p:sp>
      <p:sp>
        <p:nvSpPr>
          <p:cNvPr id="19" name="Text 17"/>
          <p:cNvSpPr/>
          <p:nvPr/>
        </p:nvSpPr>
        <p:spPr>
          <a:xfrm>
            <a:off x="804672" y="2459736"/>
            <a:ext cx="488289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Traffic sources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68096" y="2743200"/>
          <a:ext cx="4956048" cy="1792224"/>
        </p:xfrm>
        <a:graphic>
          <a:graphicData uri="http://schemas.openxmlformats.org/drawingml/2006/table">
            <a:tbl>
              <a:tblPr/>
              <a:tblGrid>
                <a:gridCol w="2478024">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Channel</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7.9K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Direct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905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Unassigned</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590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Organic Social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AI Assistant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1" name="Shape 18"/>
          <p:cNvSpPr/>
          <p:nvPr/>
        </p:nvSpPr>
        <p:spPr>
          <a:xfrm>
            <a:off x="6172200" y="2331720"/>
            <a:ext cx="5349240" cy="2468880"/>
          </a:xfrm>
          <a:prstGeom prst="roundRect">
            <a:avLst>
              <a:gd name="adj" fmla="val 1852"/>
            </a:avLst>
          </a:prstGeom>
          <a:solidFill>
            <a:srgbClr val="F8FAFC"/>
          </a:solidFill>
          <a:ln w="12700">
            <a:solidFill>
              <a:srgbClr val="D7E1EA"/>
            </a:solidFill>
            <a:prstDash val="solid"/>
          </a:ln>
        </p:spPr>
        <p:txBody>
          <a:bodyPr/>
          <a:lstStyle/>
          <a:p>
            <a:endParaRPr lang="en-US"/>
          </a:p>
        </p:txBody>
      </p:sp>
      <p:sp>
        <p:nvSpPr>
          <p:cNvPr id="22" name="Text 19"/>
          <p:cNvSpPr/>
          <p:nvPr/>
        </p:nvSpPr>
        <p:spPr>
          <a:xfrm>
            <a:off x="6336792" y="2459736"/>
            <a:ext cx="50200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Device split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0216" y="2743200"/>
          <a:ext cx="5093208" cy="1024128"/>
        </p:xfrm>
        <a:graphic>
          <a:graphicData uri="http://schemas.openxmlformats.org/drawingml/2006/table">
            <a:tbl>
              <a:tblPr/>
              <a:tblGrid>
                <a:gridCol w="2546604">
                  <a:extLst>
                    <a:ext uri="{9D8B030D-6E8A-4147-A177-3AD203B41FA5}">
                      <a16:colId xmlns:a16="http://schemas.microsoft.com/office/drawing/2014/main" val="20000"/>
                    </a:ext>
                  </a:extLst>
                </a:gridCol>
                <a:gridCol w="2546604">
                  <a:extLst>
                    <a:ext uri="{9D8B030D-6E8A-4147-A177-3AD203B41FA5}">
                      <a16:colId xmlns:a16="http://schemas.microsoft.com/office/drawing/2014/main" val="20001"/>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Device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1.8K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Tablet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User and Traffic Acquisition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Organic Search led acquisition through google / organic, generating 6,848 sessions and 3,974 users. Engagement from this source was 91.4%, which indicates how effectively this channel is bringing qualified visitors.</a:t>
            </a:r>
            <a:endParaRPr lang="en-US" sz="12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User and Traffic Acquisition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08" cy="2304288"/>
        </p:xfrm>
        <a:graphic>
          <a:graphicData uri="http://schemas.openxmlformats.org/drawingml/2006/table">
            <a:tbl>
              <a:tblPr/>
              <a:tblGrid>
                <a:gridCol w="1725168">
                  <a:extLst>
                    <a:ext uri="{9D8B030D-6E8A-4147-A177-3AD203B41FA5}">
                      <a16:colId xmlns:a16="http://schemas.microsoft.com/office/drawing/2014/main" val="20000"/>
                    </a:ext>
                  </a:extLst>
                </a:gridCol>
                <a:gridCol w="1725168">
                  <a:extLst>
                    <a:ext uri="{9D8B030D-6E8A-4147-A177-3AD203B41FA5}">
                      <a16:colId xmlns:a16="http://schemas.microsoft.com/office/drawing/2014/main" val="20001"/>
                    </a:ext>
                  </a:extLst>
                </a:gridCol>
                <a:gridCol w="1725168">
                  <a:extLst>
                    <a:ext uri="{9D8B030D-6E8A-4147-A177-3AD203B41FA5}">
                      <a16:colId xmlns:a16="http://schemas.microsoft.com/office/drawing/2014/main" val="20002"/>
                    </a:ext>
                  </a:extLst>
                </a:gridCol>
                <a:gridCol w="1725168">
                  <a:extLst>
                    <a:ext uri="{9D8B030D-6E8A-4147-A177-3AD203B41FA5}">
                      <a16:colId xmlns:a16="http://schemas.microsoft.com/office/drawing/2014/main" val="20003"/>
                    </a:ext>
                  </a:extLst>
                </a:gridCol>
                <a:gridCol w="1725168">
                  <a:extLst>
                    <a:ext uri="{9D8B030D-6E8A-4147-A177-3AD203B41FA5}">
                      <a16:colId xmlns:a16="http://schemas.microsoft.com/office/drawing/2014/main" val="20004"/>
                    </a:ext>
                  </a:extLst>
                </a:gridCol>
                <a:gridCol w="1725168">
                  <a:extLst>
                    <a:ext uri="{9D8B030D-6E8A-4147-A177-3AD203B41FA5}">
                      <a16:colId xmlns:a16="http://schemas.microsoft.com/office/drawing/2014/main" val="20005"/>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Channel</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Source / medium</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Conv.</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google / organic</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6.8K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91.4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10.10.2.5:8090 / 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91.6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192.168.0.249:8090 / 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1.8K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84.9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Direct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(direct) / (none)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905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585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85.5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Unassigned</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590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bing / organic</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548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294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84.1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192.168.7.5:8090 / 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544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Organic Search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ntp.msn.com / referral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Landing Pages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 was the main entry point, producing 11,774 visits/views and 2,684 users. This page should be treated as the highest-priority conversion path for the period.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Landing Pages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10" cy="2304288"/>
        </p:xfrm>
        <a:graphic>
          <a:graphicData uri="http://schemas.openxmlformats.org/drawingml/2006/table">
            <a:tbl>
              <a:tblPr/>
              <a:tblGrid>
                <a:gridCol w="2070202">
                  <a:extLst>
                    <a:ext uri="{9D8B030D-6E8A-4147-A177-3AD203B41FA5}">
                      <a16:colId xmlns:a16="http://schemas.microsoft.com/office/drawing/2014/main" val="20000"/>
                    </a:ext>
                  </a:extLst>
                </a:gridCol>
                <a:gridCol w="2070202">
                  <a:extLst>
                    <a:ext uri="{9D8B030D-6E8A-4147-A177-3AD203B41FA5}">
                      <a16:colId xmlns:a16="http://schemas.microsoft.com/office/drawing/2014/main" val="20001"/>
                    </a:ext>
                  </a:extLst>
                </a:gridCol>
                <a:gridCol w="2070202">
                  <a:extLst>
                    <a:ext uri="{9D8B030D-6E8A-4147-A177-3AD203B41FA5}">
                      <a16:colId xmlns:a16="http://schemas.microsoft.com/office/drawing/2014/main" val="20002"/>
                    </a:ext>
                  </a:extLst>
                </a:gridCol>
                <a:gridCol w="2070202">
                  <a:extLst>
                    <a:ext uri="{9D8B030D-6E8A-4147-A177-3AD203B41FA5}">
                      <a16:colId xmlns:a16="http://schemas.microsoft.com/office/drawing/2014/main" val="20003"/>
                    </a:ext>
                  </a:extLst>
                </a:gridCol>
                <a:gridCol w="2070202">
                  <a:extLst>
                    <a:ext uri="{9D8B030D-6E8A-4147-A177-3AD203B41FA5}">
                      <a16:colId xmlns:a16="http://schemas.microsoft.com/office/drawing/2014/main" val="20004"/>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Landing page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Conv.</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11.8K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2.7K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1.7K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98.0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514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/for-you/mobile-banking/online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564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405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372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286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90.8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/customer-service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/for-you/mobile-banking</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92.7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Demographics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Harare, Zimbabwe was the strongest visible audience location, with 4,473 users and 13,870 sessions. This gives a useful indication of where demand is concentrated for the selected period.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Demographics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10" cy="2304288"/>
        </p:xfrm>
        <a:graphic>
          <a:graphicData uri="http://schemas.openxmlformats.org/drawingml/2006/table">
            <a:tbl>
              <a:tblPr/>
              <a:tblGrid>
                <a:gridCol w="2070202">
                  <a:extLst>
                    <a:ext uri="{9D8B030D-6E8A-4147-A177-3AD203B41FA5}">
                      <a16:colId xmlns:a16="http://schemas.microsoft.com/office/drawing/2014/main" val="20000"/>
                    </a:ext>
                  </a:extLst>
                </a:gridCol>
                <a:gridCol w="2070202">
                  <a:extLst>
                    <a:ext uri="{9D8B030D-6E8A-4147-A177-3AD203B41FA5}">
                      <a16:colId xmlns:a16="http://schemas.microsoft.com/office/drawing/2014/main" val="20001"/>
                    </a:ext>
                  </a:extLst>
                </a:gridCol>
                <a:gridCol w="2070202">
                  <a:extLst>
                    <a:ext uri="{9D8B030D-6E8A-4147-A177-3AD203B41FA5}">
                      <a16:colId xmlns:a16="http://schemas.microsoft.com/office/drawing/2014/main" val="20002"/>
                    </a:ext>
                  </a:extLst>
                </a:gridCol>
                <a:gridCol w="2070202">
                  <a:extLst>
                    <a:ext uri="{9D8B030D-6E8A-4147-A177-3AD203B41FA5}">
                      <a16:colId xmlns:a16="http://schemas.microsoft.com/office/drawing/2014/main" val="20003"/>
                    </a:ext>
                  </a:extLst>
                </a:gridCol>
                <a:gridCol w="2070202">
                  <a:extLst>
                    <a:ext uri="{9D8B030D-6E8A-4147-A177-3AD203B41FA5}">
                      <a16:colId xmlns:a16="http://schemas.microsoft.com/office/drawing/2014/main" val="20004"/>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Country</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City</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Harare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13.9K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88.2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Bulawayo</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425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89.9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United Kingdom</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84.6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Netherlands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91.7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Victoria Falls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80.2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Gweru</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88.6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South Africa</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Cape Town</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Pages and Screens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 was the most viewed page or screen with 32,172 views and 2,954 users. Its engagement rate of 86.4% shows how well the page held visitor attention.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Pages and Screens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10" cy="3060192"/>
        </p:xfrm>
        <a:graphic>
          <a:graphicData uri="http://schemas.openxmlformats.org/drawingml/2006/table">
            <a:tbl>
              <a:tblPr/>
              <a:tblGrid>
                <a:gridCol w="2070202">
                  <a:extLst>
                    <a:ext uri="{9D8B030D-6E8A-4147-A177-3AD203B41FA5}">
                      <a16:colId xmlns:a16="http://schemas.microsoft.com/office/drawing/2014/main" val="20000"/>
                    </a:ext>
                  </a:extLst>
                </a:gridCol>
                <a:gridCol w="2070202">
                  <a:extLst>
                    <a:ext uri="{9D8B030D-6E8A-4147-A177-3AD203B41FA5}">
                      <a16:colId xmlns:a16="http://schemas.microsoft.com/office/drawing/2014/main" val="20001"/>
                    </a:ext>
                  </a:extLst>
                </a:gridCol>
                <a:gridCol w="2070202">
                  <a:extLst>
                    <a:ext uri="{9D8B030D-6E8A-4147-A177-3AD203B41FA5}">
                      <a16:colId xmlns:a16="http://schemas.microsoft.com/office/drawing/2014/main" val="20002"/>
                    </a:ext>
                  </a:extLst>
                </a:gridCol>
                <a:gridCol w="2070202">
                  <a:extLst>
                    <a:ext uri="{9D8B030D-6E8A-4147-A177-3AD203B41FA5}">
                      <a16:colId xmlns:a16="http://schemas.microsoft.com/office/drawing/2014/main" val="20003"/>
                    </a:ext>
                  </a:extLst>
                </a:gridCol>
                <a:gridCol w="2070202">
                  <a:extLst>
                    <a:ext uri="{9D8B030D-6E8A-4147-A177-3AD203B41FA5}">
                      <a16:colId xmlns:a16="http://schemas.microsoft.com/office/drawing/2014/main" val="20004"/>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Page title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Path</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Views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32.2K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97.8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/for-you/loans/ecocash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830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/for-you/mobile-banking/online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2.4K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/for-you/mobile-banking</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2.1K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605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96.9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 Digital Banking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/for-you/loans/bank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527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User Engagement and Retention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Daily engagement peaked at 531 users in the displayed engagement sample. Returning users produced 12,237 sessions, showing repeat visitor intent that can be converted with clearer shortcuts and calls to action.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521208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488289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Engagement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4956048" cy="2304288"/>
        </p:xfrm>
        <a:graphic>
          <a:graphicData uri="http://schemas.openxmlformats.org/drawingml/2006/table">
            <a:tbl>
              <a:tblPr/>
              <a:tblGrid>
                <a:gridCol w="1239012">
                  <a:extLst>
                    <a:ext uri="{9D8B030D-6E8A-4147-A177-3AD203B41FA5}">
                      <a16:colId xmlns:a16="http://schemas.microsoft.com/office/drawing/2014/main" val="20000"/>
                    </a:ext>
                  </a:extLst>
                </a:gridCol>
                <a:gridCol w="1239012">
                  <a:extLst>
                    <a:ext uri="{9D8B030D-6E8A-4147-A177-3AD203B41FA5}">
                      <a16:colId xmlns:a16="http://schemas.microsoft.com/office/drawing/2014/main" val="20001"/>
                    </a:ext>
                  </a:extLst>
                </a:gridCol>
                <a:gridCol w="1239012">
                  <a:extLst>
                    <a:ext uri="{9D8B030D-6E8A-4147-A177-3AD203B41FA5}">
                      <a16:colId xmlns:a16="http://schemas.microsoft.com/office/drawing/2014/main" val="20002"/>
                    </a:ext>
                  </a:extLst>
                </a:gridCol>
                <a:gridCol w="1239012">
                  <a:extLst>
                    <a:ext uri="{9D8B030D-6E8A-4147-A177-3AD203B41FA5}">
                      <a16:colId xmlns:a16="http://schemas.microsoft.com/office/drawing/2014/main" val="20003"/>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Date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Engaged 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Jul 11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238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273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91.3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Jul 04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189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216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Jul 12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183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187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89.5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Jun 27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142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178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90.8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Jun 20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133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88.1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Jul 05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141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Jun 21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Jun 28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Shape 6"/>
          <p:cNvSpPr/>
          <p:nvPr/>
        </p:nvSpPr>
        <p:spPr>
          <a:xfrm>
            <a:off x="6172200" y="1417320"/>
            <a:ext cx="507492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10" name="Text 7"/>
          <p:cNvSpPr/>
          <p:nvPr/>
        </p:nvSpPr>
        <p:spPr>
          <a:xfrm>
            <a:off x="6336792" y="1545336"/>
            <a:ext cx="474573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Retention</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0216" y="1828800"/>
          <a:ext cx="4818888" cy="1024128"/>
        </p:xfrm>
        <a:graphic>
          <a:graphicData uri="http://schemas.openxmlformats.org/drawingml/2006/table">
            <a:tbl>
              <a:tblPr/>
              <a:tblGrid>
                <a:gridCol w="1204722">
                  <a:extLst>
                    <a:ext uri="{9D8B030D-6E8A-4147-A177-3AD203B41FA5}">
                      <a16:colId xmlns:a16="http://schemas.microsoft.com/office/drawing/2014/main" val="20000"/>
                    </a:ext>
                  </a:extLst>
                </a:gridCol>
                <a:gridCol w="1204722">
                  <a:extLst>
                    <a:ext uri="{9D8B030D-6E8A-4147-A177-3AD203B41FA5}">
                      <a16:colId xmlns:a16="http://schemas.microsoft.com/office/drawing/2014/main" val="20001"/>
                    </a:ext>
                  </a:extLst>
                </a:gridCol>
                <a:gridCol w="1204722">
                  <a:extLst>
                    <a:ext uri="{9D8B030D-6E8A-4147-A177-3AD203B41FA5}">
                      <a16:colId xmlns:a16="http://schemas.microsoft.com/office/drawing/2014/main" val="20002"/>
                    </a:ext>
                  </a:extLst>
                </a:gridCol>
                <a:gridCol w="1204722">
                  <a:extLst>
                    <a:ext uri="{9D8B030D-6E8A-4147-A177-3AD203B41FA5}">
                      <a16:colId xmlns:a16="http://schemas.microsoft.com/office/drawing/2014/main" val="20003"/>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Segment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new</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4.4K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4.4K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96.7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returning</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(not set)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209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Tech Overview</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Mobile users on Chrome / Android were the largest audience technology segment, with 2,619 users and 4,106 sessions. This section is based on analytics device and browser data rather than site-performance monitoring.</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703320"/>
          </a:xfrm>
          <a:prstGeom prst="roundRect">
            <a:avLst>
              <a:gd name="adj" fmla="val 1235"/>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Tech Overview</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10351010" cy="2304288"/>
        </p:xfrm>
        <a:graphic>
          <a:graphicData uri="http://schemas.openxmlformats.org/drawingml/2006/table">
            <a:tbl>
              <a:tblPr/>
              <a:tblGrid>
                <a:gridCol w="2070202">
                  <a:extLst>
                    <a:ext uri="{9D8B030D-6E8A-4147-A177-3AD203B41FA5}">
                      <a16:colId xmlns:a16="http://schemas.microsoft.com/office/drawing/2014/main" val="20000"/>
                    </a:ext>
                  </a:extLst>
                </a:gridCol>
                <a:gridCol w="2070202">
                  <a:extLst>
                    <a:ext uri="{9D8B030D-6E8A-4147-A177-3AD203B41FA5}">
                      <a16:colId xmlns:a16="http://schemas.microsoft.com/office/drawing/2014/main" val="20001"/>
                    </a:ext>
                  </a:extLst>
                </a:gridCol>
                <a:gridCol w="2070202">
                  <a:extLst>
                    <a:ext uri="{9D8B030D-6E8A-4147-A177-3AD203B41FA5}">
                      <a16:colId xmlns:a16="http://schemas.microsoft.com/office/drawing/2014/main" val="20002"/>
                    </a:ext>
                  </a:extLst>
                </a:gridCol>
                <a:gridCol w="2070202">
                  <a:extLst>
                    <a:ext uri="{9D8B030D-6E8A-4147-A177-3AD203B41FA5}">
                      <a16:colId xmlns:a16="http://schemas.microsoft.com/office/drawing/2014/main" val="20003"/>
                    </a:ext>
                  </a:extLst>
                </a:gridCol>
                <a:gridCol w="2070202">
                  <a:extLst>
                    <a:ext uri="{9D8B030D-6E8A-4147-A177-3AD203B41FA5}">
                      <a16:colId xmlns:a16="http://schemas.microsoft.com/office/drawing/2014/main" val="20004"/>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Device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Browser</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OS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Users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Sessions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Android</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4.1K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6.9K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Edge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510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Safari</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iOS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409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645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iOS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231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412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Firefox</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Windows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237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Desktop</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Chrome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Macintosh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243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Opera</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Android</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Predictive Insights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The forecast for the next 30 days is opportunity, with 92% confidence and weak historical validation. The strongest projected movement is Organic clicks, expected to move +1361.3% around a central estimate of 90,001.5.</a:t>
            </a:r>
            <a:endParaRPr lang="en-US" sz="12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Confidence</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92%</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0" name="Text 8"/>
          <p:cNvSpPr/>
          <p:nvPr/>
        </p:nvSpPr>
        <p:spPr>
          <a:xfrm>
            <a:off x="3566160"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Risk</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Opportunity</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3" name="Text 11"/>
          <p:cNvSpPr/>
          <p:nvPr/>
        </p:nvSpPr>
        <p:spPr>
          <a:xfrm>
            <a:off x="6327648"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Forecast period</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30 days</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6" name="Text 14"/>
          <p:cNvSpPr/>
          <p:nvPr/>
        </p:nvSpPr>
        <p:spPr>
          <a:xfrm>
            <a:off x="9089136"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Validation</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Weak</a:t>
            </a:r>
            <a:endParaRPr lang="en-US" sz="1800" dirty="0"/>
          </a:p>
        </p:txBody>
      </p:sp>
      <p:sp>
        <p:nvSpPr>
          <p:cNvPr id="18" name="Shape 16"/>
          <p:cNvSpPr/>
          <p:nvPr/>
        </p:nvSpPr>
        <p:spPr>
          <a:xfrm>
            <a:off x="640080" y="2240280"/>
            <a:ext cx="10607040" cy="2743200"/>
          </a:xfrm>
          <a:prstGeom prst="roundRect">
            <a:avLst>
              <a:gd name="adj" fmla="val 1667"/>
            </a:avLst>
          </a:prstGeom>
          <a:solidFill>
            <a:srgbClr val="F8FAFC"/>
          </a:solidFill>
          <a:ln w="12700">
            <a:solidFill>
              <a:srgbClr val="D7E1EA"/>
            </a:solidFill>
            <a:prstDash val="solid"/>
          </a:ln>
        </p:spPr>
        <p:txBody>
          <a:bodyPr/>
          <a:lstStyle/>
          <a:p>
            <a:endParaRPr lang="en-US"/>
          </a:p>
        </p:txBody>
      </p:sp>
      <p:sp>
        <p:nvSpPr>
          <p:cNvPr id="19" name="Text 17"/>
          <p:cNvSpPr/>
          <p:nvPr/>
        </p:nvSpPr>
        <p:spPr>
          <a:xfrm>
            <a:off x="804672" y="236829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Forecast narrative</a:t>
            </a:r>
            <a:endParaRPr lang="en-US" sz="1200" dirty="0"/>
          </a:p>
        </p:txBody>
      </p:sp>
      <p:sp>
        <p:nvSpPr>
          <p:cNvPr id="20" name="Text 18"/>
          <p:cNvSpPr/>
          <p:nvPr/>
        </p:nvSpPr>
        <p:spPr>
          <a:xfrm>
            <a:off x="841248" y="2679192"/>
            <a:ext cx="10204704" cy="2139696"/>
          </a:xfrm>
          <a:prstGeom prst="rect">
            <a:avLst/>
          </a:prstGeom>
          <a:noFill/>
          <a:ln/>
        </p:spPr>
        <p:txBody>
          <a:bodyPr wrap="square" lIns="508" tIns="508" rIns="508" bIns="508" rtlCol="0" anchor="t">
            <a:normAutofit/>
          </a:bodyPr>
          <a:lstStyle/>
          <a:p>
            <a:pPr marL="177800" indent="-177800">
              <a:buSzPct val="100000"/>
              <a:buChar char="•"/>
            </a:pPr>
            <a:r>
              <a:rPr lang="en-US" sz="1100" dirty="0">
                <a:solidFill>
                  <a:srgbClr val="223142"/>
                </a:solidFill>
                <a:latin typeface="Lato" pitchFamily="34" charset="0"/>
                <a:ea typeface="Lato" pitchFamily="34" charset="-122"/>
                <a:cs typeface="Lato" pitchFamily="34" charset="-120"/>
              </a:rPr>
              <a:t>Strategy mode: Deterministic fallback. AI synthesis was unavailable, so the deterministic strategy engine was used.</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Opportunity outlook for the next 30 days with 92% confidence. Organic clicks shows the strongest projected movement at +1361.3% around a central estimate of 90,001.5.</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Summary-mode validation is inferred from current period stability because detailed rolling history is not available in mock mode.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Predictive Action Plan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Priority actions derived from the forecast and current performance evidence.</a:t>
            </a:r>
            <a:endParaRPr lang="en-US" sz="12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Predictive Action Plan</a:t>
            </a:r>
            <a:endParaRPr lang="en-US" sz="1200" dirty="0"/>
          </a:p>
        </p:txBody>
      </p:sp>
      <p:sp>
        <p:nvSpPr>
          <p:cNvPr id="8" name="Text 6"/>
          <p:cNvSpPr/>
          <p:nvPr/>
        </p:nvSpPr>
        <p:spPr>
          <a:xfrm>
            <a:off x="841248" y="1856232"/>
            <a:ext cx="10204704" cy="3054096"/>
          </a:xfrm>
          <a:prstGeom prst="rect">
            <a:avLst/>
          </a:prstGeom>
          <a:noFill/>
          <a:ln/>
        </p:spPr>
        <p:txBody>
          <a:bodyPr wrap="square" lIns="508" tIns="508" rIns="508" bIns="508" rtlCol="0" anchor="t">
            <a:normAutofit/>
          </a:bodyPr>
          <a:lstStyle/>
          <a:p>
            <a:pPr marL="171450" lvl="0" indent="-171450">
              <a:buFont typeface="Arial" panose="020B0604020202020204" pitchFamily="34" charset="0"/>
              <a:buChar char="•"/>
            </a:pPr>
            <a:r>
              <a:rPr lang="en-ZW" sz="1100" b="1" dirty="0"/>
              <a:t>Strengthen "</a:t>
            </a:r>
            <a:r>
              <a:rPr lang="en-ZW" sz="1100" b="1" dirty="0" err="1"/>
              <a:t>CyberTech</a:t>
            </a:r>
            <a:r>
              <a:rPr lang="en-ZW" sz="1100" b="1" dirty="0"/>
              <a:t> Bank" SEO:</a:t>
            </a:r>
            <a:r>
              <a:rPr lang="en-ZW" sz="1100" dirty="0"/>
              <a:t> Create one authoritative landing page targeting </a:t>
            </a:r>
            <a:r>
              <a:rPr lang="en-ZW" sz="1100" b="1" dirty="0"/>
              <a:t>"</a:t>
            </a:r>
            <a:r>
              <a:rPr lang="en-ZW" sz="1100" b="1" dirty="0" err="1"/>
              <a:t>cybertech</a:t>
            </a:r>
            <a:r>
              <a:rPr lang="en-ZW" sz="1100" b="1" dirty="0"/>
              <a:t> bank"</a:t>
            </a:r>
            <a:r>
              <a:rPr lang="en-ZW" sz="1100" dirty="0"/>
              <a:t>, optimize headings and metadata, include related searches (e.g. </a:t>
            </a:r>
            <a:r>
              <a:rPr lang="en-ZW" sz="1100" i="1" dirty="0"/>
              <a:t>TN </a:t>
            </a:r>
            <a:r>
              <a:rPr lang="en-ZW" sz="1100" i="1" dirty="0" err="1"/>
              <a:t>CyberTech</a:t>
            </a:r>
            <a:r>
              <a:rPr lang="en-ZW" sz="1100" i="1" dirty="0"/>
              <a:t> Bank</a:t>
            </a:r>
            <a:r>
              <a:rPr lang="en-ZW" sz="1100" dirty="0"/>
              <a:t>, </a:t>
            </a:r>
            <a:r>
              <a:rPr lang="en-ZW" sz="1100" i="1" dirty="0"/>
              <a:t>online banking</a:t>
            </a:r>
            <a:r>
              <a:rPr lang="en-ZW" sz="1100" dirty="0"/>
              <a:t>), and improve internal linking.</a:t>
            </a:r>
          </a:p>
          <a:p>
            <a:pPr marL="171450" lvl="0" indent="-171450">
              <a:buFont typeface="Arial" panose="020B0604020202020204" pitchFamily="34" charset="0"/>
              <a:buChar char="•"/>
            </a:pPr>
            <a:r>
              <a:rPr lang="en-ZW" sz="1100" b="1" dirty="0"/>
              <a:t>Improve Homepage Conversions:</a:t>
            </a:r>
            <a:r>
              <a:rPr lang="en-ZW" sz="1100" dirty="0"/>
              <a:t> Clarify the value proposition above the fold, highlight a single primary CTA, add process, trust, and FAQ sections, and simplify the user journey.</a:t>
            </a:r>
          </a:p>
          <a:p>
            <a:pPr marL="171450" lvl="0" indent="-171450">
              <a:buFont typeface="Arial" panose="020B0604020202020204" pitchFamily="34" charset="0"/>
              <a:buChar char="•"/>
            </a:pPr>
            <a:r>
              <a:rPr lang="en-ZW" sz="1100" b="1" dirty="0"/>
              <a:t>Protect Organic Traffic:</a:t>
            </a:r>
            <a:r>
              <a:rPr lang="en-ZW" sz="1100" dirty="0"/>
              <a:t> Monitor organic clicks weekly, optimize key referral landing pages, and pair content updates with stronger CTAs and internal links to improve conversions.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SEO Performance</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Search Console recorded 6,159 clicks from 35,019 impressions at 17.6% CTR. The strongest query was "tn cybertech bank" with 1,004 clicks, while https://tncybertechbank.co.zw/ carried the strongest page-level search demand.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Clicks</a:t>
            </a:r>
            <a:endParaRPr lang="en-US" sz="1000" dirty="0"/>
          </a:p>
        </p:txBody>
      </p:sp>
      <p:sp>
        <p:nvSpPr>
          <p:cNvPr id="8" name="Text 6"/>
          <p:cNvSpPr/>
          <p:nvPr/>
        </p:nvSpPr>
        <p:spPr>
          <a:xfrm>
            <a:off x="804672"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6.2K</a:t>
            </a:r>
            <a:endParaRPr lang="en-US" sz="1800" dirty="0"/>
          </a:p>
        </p:txBody>
      </p:sp>
      <p:sp>
        <p:nvSpPr>
          <p:cNvPr id="9" name="Shape 7"/>
          <p:cNvSpPr/>
          <p:nvPr/>
        </p:nvSpPr>
        <p:spPr>
          <a:xfrm>
            <a:off x="3401568"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0" name="Text 8"/>
          <p:cNvSpPr/>
          <p:nvPr/>
        </p:nvSpPr>
        <p:spPr>
          <a:xfrm>
            <a:off x="3566160"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Impressions</a:t>
            </a:r>
            <a:endParaRPr lang="en-US" sz="1000" dirty="0"/>
          </a:p>
        </p:txBody>
      </p:sp>
      <p:sp>
        <p:nvSpPr>
          <p:cNvPr id="11" name="Text 9"/>
          <p:cNvSpPr/>
          <p:nvPr/>
        </p:nvSpPr>
        <p:spPr>
          <a:xfrm>
            <a:off x="3566160"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35K</a:t>
            </a:r>
            <a:endParaRPr lang="en-US" sz="1800" dirty="0"/>
          </a:p>
        </p:txBody>
      </p:sp>
      <p:sp>
        <p:nvSpPr>
          <p:cNvPr id="12" name="Shape 10"/>
          <p:cNvSpPr/>
          <p:nvPr/>
        </p:nvSpPr>
        <p:spPr>
          <a:xfrm>
            <a:off x="6163056"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3" name="Text 11"/>
          <p:cNvSpPr/>
          <p:nvPr/>
        </p:nvSpPr>
        <p:spPr>
          <a:xfrm>
            <a:off x="6327648"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CTR</a:t>
            </a:r>
            <a:endParaRPr lang="en-US" sz="1000" dirty="0"/>
          </a:p>
        </p:txBody>
      </p:sp>
      <p:sp>
        <p:nvSpPr>
          <p:cNvPr id="14" name="Text 12"/>
          <p:cNvSpPr/>
          <p:nvPr/>
        </p:nvSpPr>
        <p:spPr>
          <a:xfrm>
            <a:off x="6327648"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17.6%</a:t>
            </a:r>
            <a:endParaRPr lang="en-US" sz="1800" dirty="0"/>
          </a:p>
        </p:txBody>
      </p:sp>
      <p:sp>
        <p:nvSpPr>
          <p:cNvPr id="15" name="Shape 13"/>
          <p:cNvSpPr/>
          <p:nvPr/>
        </p:nvSpPr>
        <p:spPr>
          <a:xfrm>
            <a:off x="8924544" y="1325880"/>
            <a:ext cx="2514600" cy="777240"/>
          </a:xfrm>
          <a:prstGeom prst="roundRect">
            <a:avLst>
              <a:gd name="adj" fmla="val 7059"/>
            </a:avLst>
          </a:prstGeom>
          <a:solidFill>
            <a:srgbClr val="F8FAFC"/>
          </a:solidFill>
          <a:ln w="12700">
            <a:solidFill>
              <a:srgbClr val="D7E1EA"/>
            </a:solidFill>
            <a:prstDash val="solid"/>
          </a:ln>
        </p:spPr>
        <p:txBody>
          <a:bodyPr/>
          <a:lstStyle/>
          <a:p>
            <a:endParaRPr lang="en-US"/>
          </a:p>
        </p:txBody>
      </p:sp>
      <p:sp>
        <p:nvSpPr>
          <p:cNvPr id="16" name="Text 14"/>
          <p:cNvSpPr/>
          <p:nvPr/>
        </p:nvSpPr>
        <p:spPr>
          <a:xfrm>
            <a:off x="9089136" y="1472184"/>
            <a:ext cx="2011680" cy="146304"/>
          </a:xfrm>
          <a:prstGeom prst="rect">
            <a:avLst/>
          </a:prstGeom>
          <a:noFill/>
          <a:ln/>
        </p:spPr>
        <p:txBody>
          <a:bodyPr wrap="square" rtlCol="0" anchor="ctr"/>
          <a:lstStyle/>
          <a:p>
            <a:pPr marL="0" indent="0">
              <a:buNone/>
            </a:pPr>
            <a:r>
              <a:rPr lang="en-US" sz="1000" dirty="0">
                <a:solidFill>
                  <a:srgbClr val="6F7F90"/>
                </a:solidFill>
                <a:latin typeface="Lato" pitchFamily="34" charset="0"/>
                <a:ea typeface="Lato" pitchFamily="34" charset="-122"/>
                <a:cs typeface="Lato" pitchFamily="34" charset="-120"/>
              </a:rPr>
              <a:t>Avg. position</a:t>
            </a:r>
            <a:endParaRPr lang="en-US" sz="1000" dirty="0"/>
          </a:p>
        </p:txBody>
      </p:sp>
      <p:sp>
        <p:nvSpPr>
          <p:cNvPr id="17" name="Text 15"/>
          <p:cNvSpPr/>
          <p:nvPr/>
        </p:nvSpPr>
        <p:spPr>
          <a:xfrm>
            <a:off x="9089136" y="1655064"/>
            <a:ext cx="2011680" cy="219456"/>
          </a:xfrm>
          <a:prstGeom prst="rect">
            <a:avLst/>
          </a:prstGeom>
          <a:noFill/>
          <a:ln/>
        </p:spPr>
        <p:txBody>
          <a:bodyPr wrap="square" rtlCol="0" anchor="ctr"/>
          <a:lstStyle/>
          <a:p>
            <a:pPr marL="0" indent="0">
              <a:buNone/>
            </a:pPr>
            <a:r>
              <a:rPr lang="en-US" sz="1800" b="1" dirty="0">
                <a:solidFill>
                  <a:srgbClr val="223142"/>
                </a:solidFill>
                <a:latin typeface="Montserrat" pitchFamily="34" charset="0"/>
                <a:ea typeface="Montserrat" pitchFamily="34" charset="-122"/>
                <a:cs typeface="Montserrat" pitchFamily="34" charset="-120"/>
              </a:rPr>
              <a:t>4.2</a:t>
            </a:r>
            <a:endParaRPr lang="en-US" sz="1800" dirty="0"/>
          </a:p>
        </p:txBody>
      </p:sp>
      <p:sp>
        <p:nvSpPr>
          <p:cNvPr id="18" name="Shape 16"/>
          <p:cNvSpPr/>
          <p:nvPr/>
        </p:nvSpPr>
        <p:spPr>
          <a:xfrm>
            <a:off x="640080" y="2331720"/>
            <a:ext cx="5486400" cy="2697480"/>
          </a:xfrm>
          <a:prstGeom prst="roundRect">
            <a:avLst>
              <a:gd name="adj" fmla="val 1695"/>
            </a:avLst>
          </a:prstGeom>
          <a:solidFill>
            <a:srgbClr val="F8FAFC"/>
          </a:solidFill>
          <a:ln w="12700">
            <a:solidFill>
              <a:srgbClr val="D7E1EA"/>
            </a:solidFill>
            <a:prstDash val="solid"/>
          </a:ln>
        </p:spPr>
        <p:txBody>
          <a:bodyPr/>
          <a:lstStyle/>
          <a:p>
            <a:endParaRPr lang="en-US"/>
          </a:p>
        </p:txBody>
      </p:sp>
      <p:sp>
        <p:nvSpPr>
          <p:cNvPr id="19" name="Text 17"/>
          <p:cNvSpPr/>
          <p:nvPr/>
        </p:nvSpPr>
        <p:spPr>
          <a:xfrm>
            <a:off x="804672" y="2459736"/>
            <a:ext cx="515721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Top queries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68096" y="2743200"/>
          <a:ext cx="5230368" cy="2682240"/>
        </p:xfrm>
        <a:graphic>
          <a:graphicData uri="http://schemas.openxmlformats.org/drawingml/2006/table">
            <a:tbl>
              <a:tblPr/>
              <a:tblGrid>
                <a:gridCol w="1307592">
                  <a:extLst>
                    <a:ext uri="{9D8B030D-6E8A-4147-A177-3AD203B41FA5}">
                      <a16:colId xmlns:a16="http://schemas.microsoft.com/office/drawing/2014/main" val="20000"/>
                    </a:ext>
                  </a:extLst>
                </a:gridCol>
                <a:gridCol w="1307592">
                  <a:extLst>
                    <a:ext uri="{9D8B030D-6E8A-4147-A177-3AD203B41FA5}">
                      <a16:colId xmlns:a16="http://schemas.microsoft.com/office/drawing/2014/main" val="20001"/>
                    </a:ext>
                  </a:extLst>
                </a:gridCol>
                <a:gridCol w="1307592">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Query</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Clicks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Impressions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CTR</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46.1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898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58.7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online loans in 5 minutes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161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1.4K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mobile loans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103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instant loans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856</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tn cybertech bank online banking</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160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723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22.1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online mobile loans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598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15.9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online usd loans in zimbabwe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441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1" name="Shape 18"/>
          <p:cNvSpPr/>
          <p:nvPr/>
        </p:nvSpPr>
        <p:spPr>
          <a:xfrm>
            <a:off x="6355080" y="2331720"/>
            <a:ext cx="4892040" cy="2697480"/>
          </a:xfrm>
          <a:prstGeom prst="roundRect">
            <a:avLst>
              <a:gd name="adj" fmla="val 1695"/>
            </a:avLst>
          </a:prstGeom>
          <a:solidFill>
            <a:srgbClr val="F8FAFC"/>
          </a:solidFill>
          <a:ln w="12700">
            <a:solidFill>
              <a:srgbClr val="D7E1EA"/>
            </a:solidFill>
            <a:prstDash val="solid"/>
          </a:ln>
        </p:spPr>
        <p:txBody>
          <a:bodyPr/>
          <a:lstStyle/>
          <a:p>
            <a:endParaRPr lang="en-US"/>
          </a:p>
        </p:txBody>
      </p:sp>
      <p:sp>
        <p:nvSpPr>
          <p:cNvPr id="22" name="Text 19"/>
          <p:cNvSpPr/>
          <p:nvPr/>
        </p:nvSpPr>
        <p:spPr>
          <a:xfrm>
            <a:off x="6519672" y="2459736"/>
            <a:ext cx="4562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Top SEO pages</a:t>
            </a:r>
            <a:endParaRPr lang="en-US" sz="12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483096" y="2743200"/>
          <a:ext cx="4636008" cy="3060192"/>
        </p:xfrm>
        <a:graphic>
          <a:graphicData uri="http://schemas.openxmlformats.org/drawingml/2006/table">
            <a:tbl>
              <a:tblPr/>
              <a:tblGrid>
                <a:gridCol w="1545336">
                  <a:extLst>
                    <a:ext uri="{9D8B030D-6E8A-4147-A177-3AD203B41FA5}">
                      <a16:colId xmlns:a16="http://schemas.microsoft.com/office/drawing/2014/main" val="20000"/>
                    </a:ext>
                  </a:extLst>
                </a:gridCol>
                <a:gridCol w="1545336">
                  <a:extLst>
                    <a:ext uri="{9D8B030D-6E8A-4147-A177-3AD203B41FA5}">
                      <a16:colId xmlns:a16="http://schemas.microsoft.com/office/drawing/2014/main" val="20001"/>
                    </a:ext>
                  </a:extLst>
                </a:gridCol>
                <a:gridCol w="1545336">
                  <a:extLst>
                    <a:ext uri="{9D8B030D-6E8A-4147-A177-3AD203B41FA5}">
                      <a16:colId xmlns:a16="http://schemas.microsoft.com/office/drawing/2014/main" val="20002"/>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Page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Clicks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Impressions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12.7K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https://tncybertechbank.co.zw/for-you/loans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17.9K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662</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https://tncybertechbank.co.zw/contact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279</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https://tncybertechbank.co.zw/customer-service</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135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5.8K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113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7.1K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https://tncybertechbank.co.zw/management-team</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70</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687</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https://tncybertechbank.co.zw/for-you/mobile-ba…</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58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654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Actions Taken</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This month 3 delivery items were logged across content, SEO, implementation, and analytics work.</a:t>
            </a:r>
            <a:endParaRPr lang="en-US" sz="12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Actions Taken</a:t>
            </a:r>
            <a:endParaRPr lang="en-US" sz="1200" dirty="0"/>
          </a:p>
        </p:txBody>
      </p:sp>
      <p:sp>
        <p:nvSpPr>
          <p:cNvPr id="8" name="Text 6"/>
          <p:cNvSpPr/>
          <p:nvPr/>
        </p:nvSpPr>
        <p:spPr>
          <a:xfrm>
            <a:off x="841248" y="1856232"/>
            <a:ext cx="10204704" cy="3054096"/>
          </a:xfrm>
          <a:prstGeom prst="rect">
            <a:avLst/>
          </a:prstGeom>
          <a:noFill/>
          <a:ln/>
        </p:spPr>
        <p:txBody>
          <a:bodyPr wrap="square" lIns="508" tIns="508" rIns="508" bIns="508" rtlCol="0" anchor="t">
            <a:normAutofit/>
          </a:bodyPr>
          <a:lstStyle/>
          <a:p>
            <a:pPr marL="177800" indent="-177800">
              <a:buSzPct val="100000"/>
              <a:buChar char="•"/>
            </a:pPr>
            <a:r>
              <a:rPr lang="en-US" sz="1100" dirty="0">
                <a:solidFill>
                  <a:srgbClr val="223142"/>
                </a:solidFill>
                <a:latin typeface="Lato" pitchFamily="34" charset="0"/>
                <a:ea typeface="Lato" pitchFamily="34" charset="-122"/>
                <a:cs typeface="Lato" pitchFamily="34" charset="-120"/>
              </a:rPr>
              <a:t>SEO focus was directed to https://tncybertechbank.co.zw/ and https://tncybertechbank.co.zw/for-you/loans based on current search demand.</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Search visibility review covered queries such as "tn cybertech bank" and "tn cybertech."</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Analytics review prioritised high-traffic pages including / and /for-you/loans.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Issues, Risks and Blockers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Current issues, risks, and blockers are listed explicitly so the client can see what may slow down performance or execution.</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Issues, Risks and Blockers</a:t>
            </a:r>
            <a:endParaRPr lang="en-US" sz="1200" dirty="0"/>
          </a:p>
        </p:txBody>
      </p:sp>
      <p:sp>
        <p:nvSpPr>
          <p:cNvPr id="8" name="Text 6"/>
          <p:cNvSpPr/>
          <p:nvPr/>
        </p:nvSpPr>
        <p:spPr>
          <a:xfrm>
            <a:off x="841248" y="1856232"/>
            <a:ext cx="10204704" cy="3054096"/>
          </a:xfrm>
          <a:prstGeom prst="rect">
            <a:avLst/>
          </a:prstGeom>
          <a:noFill/>
          <a:ln/>
        </p:spPr>
        <p:txBody>
          <a:bodyPr wrap="square" lIns="508" tIns="508" rIns="508" bIns="508" rtlCol="0" anchor="t">
            <a:normAutofit/>
          </a:bodyPr>
          <a:lstStyle/>
          <a:p>
            <a:pPr marL="177800" indent="-177800">
              <a:buSzPct val="100000"/>
              <a:buChar char="•"/>
            </a:pPr>
            <a:r>
              <a:rPr lang="en-US" sz="1100" dirty="0">
                <a:solidFill>
                  <a:srgbClr val="223142"/>
                </a:solidFill>
                <a:latin typeface="Lato" pitchFamily="34" charset="0"/>
                <a:ea typeface="Lato" pitchFamily="34" charset="-122"/>
                <a:cs typeface="Lato" pitchFamily="34" charset="-120"/>
              </a:rPr>
              <a:t>"online usd loans in zimbabwe" has strong impressions but weak CTR at 5.4%, which is limiting organic traffic capture.</a:t>
            </a:r>
            <a:endParaRPr lang="en-US" sz="1100" dirty="0"/>
          </a:p>
          <a:p>
            <a:pPr marL="177800" indent="-177800">
              <a:buSzPct val="100000"/>
              <a:buChar char="•"/>
            </a:pPr>
            <a:r>
              <a:rPr lang="en-US" sz="1100" dirty="0">
                <a:solidFill>
                  <a:srgbClr val="223142"/>
                </a:solidFill>
                <a:latin typeface="Lato" pitchFamily="34" charset="0"/>
                <a:ea typeface="Lato" pitchFamily="34" charset="-122"/>
                <a:cs typeface="Lato" pitchFamily="34" charset="-120"/>
              </a:rPr>
              <a:t>No conversions were recorded for this period, which may indicate a tracking gap or a weak conversion path.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User Behaviour Insights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 received the strongest attention in the current period. Behaviour insight is currently inferred from page views and engagement until heatmaps, scroll depth, and flow tools are connected.</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6400800" cy="3200400"/>
          </a:xfrm>
          <a:prstGeom prst="roundRect">
            <a:avLst>
              <a:gd name="adj" fmla="val 1429"/>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607161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Behaviour observations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68096" y="1828800"/>
          <a:ext cx="6144768" cy="2008632"/>
        </p:xfrm>
        <a:graphic>
          <a:graphicData uri="http://schemas.openxmlformats.org/drawingml/2006/table">
            <a:tbl>
              <a:tblPr/>
              <a:tblGrid>
                <a:gridCol w="1536192">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256032">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Page</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Views</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Engagement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tc>
                  <a:txBody>
                    <a:bodyPr/>
                    <a:lstStyle/>
                    <a:p>
                      <a:pPr marL="0" indent="0" algn="l">
                        <a:buNone/>
                      </a:pPr>
                      <a:r>
                        <a:rPr lang="en-US" sz="900" b="1" dirty="0">
                          <a:solidFill>
                            <a:srgbClr val="FFFFFF"/>
                          </a:solidFill>
                          <a:latin typeface="Montserrat" pitchFamily="34" charset="0"/>
                          <a:ea typeface="Montserrat" pitchFamily="34" charset="-122"/>
                          <a:cs typeface="Montserrat" pitchFamily="34" charset="-120"/>
                        </a:rPr>
                        <a:t>Insight</a:t>
                      </a:r>
                      <a:endParaRPr lang="en-US" sz="900" dirty="0">
                        <a:latin typeface="Montserrat" charset="0"/>
                        <a:ea typeface="Montserrat" charset="0"/>
                        <a:cs typeface="Montserrat"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475569"/>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32.2K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86.4</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8.2K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97.8</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/about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4.3K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96.3</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/for-you/loans/ecocash</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3.5K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99.1</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23142"/>
                          </a:solidFill>
                          <a:latin typeface="Lato" pitchFamily="34" charset="0"/>
                          <a:ea typeface="Lato" pitchFamily="34" charset="-122"/>
                          <a:cs typeface="Lato" pitchFamily="34" charset="-120"/>
                        </a:rPr>
                        <a:t>/contact</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2.6K</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92.5</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marL="0" indent="0">
                        <a:buNone/>
                      </a:pPr>
                      <a:r>
                        <a:rPr lang="en-US" sz="850" dirty="0">
                          <a:solidFill>
                            <a:srgbClr val="223142"/>
                          </a:solidFill>
                          <a:latin typeface="Lato" pitchFamily="34" charset="0"/>
                          <a:ea typeface="Lato" pitchFamily="34" charset="-122"/>
                          <a:cs typeface="Lato" pitchFamily="34" charset="-120"/>
                        </a:rPr>
                        <a:t>Holding attention reasonably well</a:t>
                      </a:r>
                      <a:endParaRPr lang="en-US" sz="850" dirty="0">
                        <a:latin typeface="Lato" charset="0"/>
                        <a:ea typeface="Lato" charset="0"/>
                        <a:cs typeface="Lato" charset="0"/>
                      </a:endParaRPr>
                    </a:p>
                  </a:txBody>
                  <a:tcPr marL="45720" marR="45720">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7315200" y="1417320"/>
            <a:ext cx="3840480" cy="3200400"/>
          </a:xfrm>
          <a:prstGeom prst="roundRect">
            <a:avLst>
              <a:gd name="adj" fmla="val 1429"/>
            </a:avLst>
          </a:prstGeom>
          <a:solidFill>
            <a:srgbClr val="F8FAFC"/>
          </a:solidFill>
          <a:ln w="12700">
            <a:solidFill>
              <a:srgbClr val="D7E1EA"/>
            </a:solidFill>
            <a:prstDash val="solid"/>
          </a:ln>
        </p:spPr>
        <p:txBody>
          <a:bodyPr/>
          <a:lstStyle/>
          <a:p>
            <a:endParaRPr lang="en-US"/>
          </a:p>
        </p:txBody>
      </p:sp>
      <p:sp>
        <p:nvSpPr>
          <p:cNvPr id="10" name="Text 7"/>
          <p:cNvSpPr/>
          <p:nvPr/>
        </p:nvSpPr>
        <p:spPr>
          <a:xfrm>
            <a:off x="7479792" y="1545336"/>
            <a:ext cx="351129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Behaviour notes</a:t>
            </a:r>
            <a:endParaRPr lang="en-US" sz="1200" dirty="0"/>
          </a:p>
        </p:txBody>
      </p:sp>
      <p:sp>
        <p:nvSpPr>
          <p:cNvPr id="11" name="Text 8"/>
          <p:cNvSpPr/>
          <p:nvPr/>
        </p:nvSpPr>
        <p:spPr>
          <a:xfrm>
            <a:off x="7479792" y="1911096"/>
            <a:ext cx="3511296" cy="182880"/>
          </a:xfrm>
          <a:prstGeom prst="rect">
            <a:avLst/>
          </a:prstGeom>
          <a:noFill/>
          <a:ln/>
        </p:spPr>
        <p:txBody>
          <a:bodyPr wrap="square" rtlCol="0" anchor="ctr"/>
          <a:lstStyle/>
          <a:p>
            <a:pPr marL="0" indent="0">
              <a:buNone/>
            </a:pPr>
            <a:r>
              <a:rPr lang="en-US" sz="1000" i="1" dirty="0">
                <a:solidFill>
                  <a:srgbClr val="6F7F90"/>
                </a:solidFill>
                <a:latin typeface="Lato" pitchFamily="34" charset="0"/>
                <a:ea typeface="Lato" pitchFamily="34" charset="-122"/>
                <a:cs typeface="Lato" pitchFamily="34" charset="-120"/>
              </a:rPr>
              <a:t>No data available for this section.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475569"/>
          </a:solidFill>
          <a:ln w="12700">
            <a:solidFill>
              <a:srgbClr val="475569"/>
            </a:solidFill>
            <a:prstDash val="solid"/>
          </a:ln>
        </p:spPr>
        <p:txBody>
          <a:bodyPr/>
          <a:lstStyle/>
          <a:p>
            <a:endParaRPr lang="en-US"/>
          </a:p>
        </p:txBody>
      </p:sp>
      <p:sp>
        <p:nvSpPr>
          <p:cNvPr id="3" name="Text 1"/>
          <p:cNvSpPr/>
          <p:nvPr/>
        </p:nvSpPr>
        <p:spPr>
          <a:xfrm>
            <a:off x="640080" y="438912"/>
            <a:ext cx="7132320" cy="365760"/>
          </a:xfrm>
          <a:prstGeom prst="rect">
            <a:avLst/>
          </a:prstGeom>
          <a:noFill/>
          <a:ln/>
        </p:spPr>
        <p:txBody>
          <a:bodyPr wrap="square" rtlCol="0" anchor="ctr"/>
          <a:lstStyle/>
          <a:p>
            <a:pPr marL="0" indent="0">
              <a:buNone/>
            </a:pPr>
            <a:r>
              <a:rPr lang="en-US" sz="2400" b="1" dirty="0">
                <a:solidFill>
                  <a:srgbClr val="223142"/>
                </a:solidFill>
                <a:latin typeface="Montserrat" pitchFamily="34" charset="0"/>
                <a:ea typeface="Montserrat" pitchFamily="34" charset="-122"/>
                <a:cs typeface="Montserrat" pitchFamily="34" charset="-120"/>
              </a:rPr>
              <a:t>Recommendations</a:t>
            </a:r>
            <a:endParaRPr lang="en-US" sz="2400" dirty="0"/>
          </a:p>
        </p:txBody>
      </p:sp>
      <p:sp>
        <p:nvSpPr>
          <p:cNvPr id="4" name="Text 2"/>
          <p:cNvSpPr/>
          <p:nvPr/>
        </p:nvSpPr>
        <p:spPr>
          <a:xfrm>
            <a:off x="640080" y="868680"/>
            <a:ext cx="10652760" cy="384048"/>
          </a:xfrm>
          <a:prstGeom prst="rect">
            <a:avLst/>
          </a:prstGeom>
          <a:noFill/>
          <a:ln/>
        </p:spPr>
        <p:txBody>
          <a:bodyPr wrap="square" rtlCol="0" anchor="ctr"/>
          <a:lstStyle/>
          <a:p>
            <a:pPr marL="0" indent="0">
              <a:buNone/>
            </a:pPr>
            <a:r>
              <a:rPr lang="en-US" sz="1200" dirty="0">
                <a:solidFill>
                  <a:srgbClr val="6F7F90"/>
                </a:solidFill>
                <a:latin typeface="Lato" pitchFamily="34" charset="0"/>
                <a:ea typeface="Lato" pitchFamily="34" charset="-122"/>
                <a:cs typeface="Lato" pitchFamily="34" charset="-120"/>
              </a:rPr>
              <a:t>Priority actions generated from the report evidence and predictive layer.</a:t>
            </a:r>
            <a:endParaRPr lang="en-US" sz="1200" dirty="0"/>
          </a:p>
        </p:txBody>
      </p:sp>
      <p:sp>
        <p:nvSpPr>
          <p:cNvPr id="5" name="Text 3"/>
          <p:cNvSpPr/>
          <p:nvPr/>
        </p:nvSpPr>
        <p:spPr>
          <a:xfrm>
            <a:off x="9601200" y="6309360"/>
            <a:ext cx="1645920" cy="137160"/>
          </a:xfrm>
          <a:prstGeom prst="rect">
            <a:avLst/>
          </a:prstGeom>
          <a:noFill/>
          <a:ln/>
        </p:spPr>
        <p:txBody>
          <a:bodyPr wrap="square" rtlCol="0" anchor="ctr"/>
          <a:lstStyle/>
          <a:p>
            <a:pPr marL="0" indent="0" algn="r">
              <a:buNone/>
            </a:pPr>
            <a:r>
              <a:rPr lang="en-US" sz="800" dirty="0">
                <a:solidFill>
                  <a:srgbClr val="6F7F90"/>
                </a:solidFill>
                <a:latin typeface="Lato" pitchFamily="34" charset="0"/>
                <a:ea typeface="Lato" pitchFamily="34" charset="-122"/>
                <a:cs typeface="Lato" pitchFamily="34" charset="-120"/>
              </a:rPr>
              <a:t>ReportGen</a:t>
            </a:r>
            <a:endParaRPr lang="en-US" sz="800" dirty="0"/>
          </a:p>
        </p:txBody>
      </p:sp>
      <p:sp>
        <p:nvSpPr>
          <p:cNvPr id="6" name="Shape 4"/>
          <p:cNvSpPr/>
          <p:nvPr/>
        </p:nvSpPr>
        <p:spPr>
          <a:xfrm>
            <a:off x="640080" y="1417320"/>
            <a:ext cx="10607040" cy="3657600"/>
          </a:xfrm>
          <a:prstGeom prst="roundRect">
            <a:avLst>
              <a:gd name="adj" fmla="val 1250"/>
            </a:avLst>
          </a:prstGeom>
          <a:solidFill>
            <a:srgbClr val="F8FAFC"/>
          </a:solidFill>
          <a:ln w="12700">
            <a:solidFill>
              <a:srgbClr val="D7E1EA"/>
            </a:solidFill>
            <a:prstDash val="solid"/>
          </a:ln>
        </p:spPr>
        <p:txBody>
          <a:bodyPr/>
          <a:lstStyle/>
          <a:p>
            <a:endParaRPr lang="en-US"/>
          </a:p>
        </p:txBody>
      </p:sp>
      <p:sp>
        <p:nvSpPr>
          <p:cNvPr id="7" name="Text 5"/>
          <p:cNvSpPr/>
          <p:nvPr/>
        </p:nvSpPr>
        <p:spPr>
          <a:xfrm>
            <a:off x="804672" y="1545336"/>
            <a:ext cx="10277856" cy="164592"/>
          </a:xfrm>
          <a:prstGeom prst="rect">
            <a:avLst/>
          </a:prstGeom>
          <a:noFill/>
          <a:ln/>
        </p:spPr>
        <p:txBody>
          <a:bodyPr wrap="square" rtlCol="0" anchor="ctr"/>
          <a:lstStyle/>
          <a:p>
            <a:pPr marL="0" indent="0">
              <a:buNone/>
            </a:pPr>
            <a:r>
              <a:rPr lang="en-US" sz="1200" b="1" dirty="0">
                <a:solidFill>
                  <a:srgbClr val="223142"/>
                </a:solidFill>
                <a:latin typeface="Montserrat" pitchFamily="34" charset="0"/>
                <a:ea typeface="Montserrat" pitchFamily="34" charset="-122"/>
                <a:cs typeface="Montserrat" pitchFamily="34" charset="-120"/>
              </a:rPr>
              <a:t>Recommendations</a:t>
            </a:r>
            <a:endParaRPr lang="en-US" sz="1200" dirty="0"/>
          </a:p>
        </p:txBody>
      </p:sp>
      <p:sp>
        <p:nvSpPr>
          <p:cNvPr id="8" name="Text 6"/>
          <p:cNvSpPr/>
          <p:nvPr/>
        </p:nvSpPr>
        <p:spPr>
          <a:xfrm>
            <a:off x="841248" y="1856232"/>
            <a:ext cx="10204704" cy="3054096"/>
          </a:xfrm>
          <a:prstGeom prst="rect">
            <a:avLst/>
          </a:prstGeom>
          <a:noFill/>
          <a:ln/>
        </p:spPr>
        <p:txBody>
          <a:bodyPr wrap="square" lIns="508" tIns="508" rIns="508" bIns="508" rtlCol="0" anchor="t">
            <a:normAutofit/>
          </a:bodyPr>
          <a:lstStyle/>
          <a:p>
            <a:pPr marL="171450" lvl="0" indent="-171450">
              <a:buFont typeface="Arial" panose="020B0604020202020204" pitchFamily="34" charset="0"/>
              <a:buChar char="•"/>
            </a:pPr>
            <a:r>
              <a:rPr lang="en-ZW" sz="1100" b="1" dirty="0"/>
              <a:t>Scale Organic SEO:</a:t>
            </a:r>
            <a:r>
              <a:rPr lang="en-ZW" sz="1100" dirty="0"/>
              <a:t> Expand content around Organic Search, the top traffic source (</a:t>
            </a:r>
            <a:r>
              <a:rPr lang="en-ZW" sz="1100" b="1" dirty="0"/>
              <a:t>6,848 sessions</a:t>
            </a:r>
            <a:r>
              <a:rPr lang="en-ZW" sz="1100" dirty="0"/>
              <a:t>), to drive sustainable growth.</a:t>
            </a:r>
          </a:p>
          <a:p>
            <a:pPr marL="171450" lvl="0" indent="-171450">
              <a:buFont typeface="Arial" panose="020B0604020202020204" pitchFamily="34" charset="0"/>
              <a:buChar char="•"/>
            </a:pPr>
            <a:r>
              <a:rPr lang="en-ZW" sz="1100" b="1" dirty="0"/>
              <a:t>Optimize the Homepage:</a:t>
            </a:r>
            <a:r>
              <a:rPr lang="en-ZW" sz="1100" dirty="0"/>
              <a:t> Improve above-the-fold messaging, strengthen the primary CTA, and track conversions on the homepage (</a:t>
            </a:r>
            <a:r>
              <a:rPr lang="en-ZW" sz="1100" b="1" dirty="0"/>
              <a:t>11,774 visits</a:t>
            </a:r>
            <a:r>
              <a:rPr lang="en-ZW" sz="1100" dirty="0"/>
              <a:t>).</a:t>
            </a:r>
          </a:p>
          <a:p>
            <a:pPr marL="171450" lvl="0" indent="-171450">
              <a:buFont typeface="Arial" panose="020B0604020202020204" pitchFamily="34" charset="0"/>
              <a:buChar char="•"/>
            </a:pPr>
            <a:r>
              <a:rPr lang="en-ZW" sz="1100" b="1" dirty="0"/>
              <a:t>Improve SEO CTR:</a:t>
            </a:r>
            <a:r>
              <a:rPr lang="en-ZW" sz="1100" dirty="0"/>
              <a:t> Optimize titles and meta descriptions for high-impression keywords such as </a:t>
            </a:r>
            <a:r>
              <a:rPr lang="en-ZW" sz="1100" b="1" dirty="0"/>
              <a:t>"online USD loans in Zimbabwe"</a:t>
            </a:r>
            <a:r>
              <a:rPr lang="en-ZW" sz="1100" dirty="0"/>
              <a:t> to increase click-through rates.</a:t>
            </a:r>
          </a:p>
          <a:p>
            <a:pPr marL="171450" lvl="0" indent="-171450">
              <a:buFont typeface="Arial" panose="020B0604020202020204" pitchFamily="34" charset="0"/>
              <a:buChar char="•"/>
            </a:pPr>
            <a:r>
              <a:rPr lang="en-ZW" sz="1100" b="1" dirty="0"/>
              <a:t>Enhance Returning User Experience:</a:t>
            </a:r>
            <a:r>
              <a:rPr lang="en-ZW" sz="1100" dirty="0"/>
              <a:t> Add quick access to Online Banking, support, and key banking services for returning visitors (</a:t>
            </a:r>
            <a:r>
              <a:rPr lang="en-ZW" sz="1100" b="1" dirty="0"/>
              <a:t>12,237 sessions</a:t>
            </a:r>
            <a:r>
              <a:rPr lang="en-ZW" sz="1100" dirty="0"/>
              <a:t>).</a:t>
            </a:r>
          </a:p>
          <a:p>
            <a:pPr marL="171450" lvl="0" indent="-171450">
              <a:buFont typeface="Arial" panose="020B0604020202020204" pitchFamily="34" charset="0"/>
              <a:buChar char="•"/>
            </a:pPr>
            <a:r>
              <a:rPr lang="en-ZW" sz="1100" b="1" dirty="0"/>
              <a:t>Deploy an AI Virtual Assistant:</a:t>
            </a:r>
            <a:r>
              <a:rPr lang="en-ZW" sz="1100" dirty="0"/>
              <a:t> Provide 24/7 customer support, guide users to products, answer FAQs instantly, and increase lead generation while reducing support costs.</a:t>
            </a:r>
          </a:p>
          <a:p>
            <a:pPr marL="171450" lvl="0" indent="-171450">
              <a:buFont typeface="Arial" panose="020B0604020202020204" pitchFamily="34" charset="0"/>
              <a:buChar char="•"/>
            </a:pPr>
            <a:r>
              <a:rPr lang="en-ZW" sz="1100" b="1" dirty="0"/>
              <a:t>Configure Conversion Tracking:</a:t>
            </a:r>
            <a:r>
              <a:rPr lang="en-ZW" sz="1100" dirty="0"/>
              <a:t> Set up GA4 events for forms, Online Banking clicks, calls, emails, chatbot interactions, and key CTAs.</a:t>
            </a:r>
          </a:p>
          <a:p>
            <a:pPr marL="171450" lvl="0" indent="-171450">
              <a:buFont typeface="Arial" panose="020B0604020202020204" pitchFamily="34" charset="0"/>
              <a:buChar char="•"/>
            </a:pPr>
            <a:r>
              <a:rPr lang="en-ZW" sz="1100" b="1" dirty="0"/>
              <a:t>Act on Growth Opportunities:</a:t>
            </a:r>
            <a:r>
              <a:rPr lang="en-ZW" sz="1100" dirty="0"/>
              <a:t> Assign ownership and weekly targets to capitalize on the projected </a:t>
            </a:r>
            <a:r>
              <a:rPr lang="en-ZW" sz="1100" b="1" dirty="0"/>
              <a:t>32.9%</a:t>
            </a:r>
            <a:r>
              <a:rPr lang="en-ZW" sz="1100" dirty="0"/>
              <a:t> increase in users.</a:t>
            </a:r>
          </a:p>
          <a:p>
            <a:pPr marL="171450" lvl="0" indent="-171450">
              <a:buFont typeface="Arial" panose="020B0604020202020204" pitchFamily="34" charset="0"/>
              <a:buChar char="•"/>
            </a:pPr>
            <a:r>
              <a:rPr lang="en-ZW" sz="1100" b="1" dirty="0"/>
              <a:t>Strengthen Brand SEO:</a:t>
            </a:r>
            <a:r>
              <a:rPr lang="en-ZW" sz="1100" dirty="0"/>
              <a:t> Build dedicated, SEO-optimized pages for </a:t>
            </a:r>
            <a:r>
              <a:rPr lang="en-ZW" sz="1100" b="1" dirty="0" err="1"/>
              <a:t>CyberTech</a:t>
            </a:r>
            <a:r>
              <a:rPr lang="en-ZW" sz="1100" b="1" dirty="0"/>
              <a:t> Bank</a:t>
            </a:r>
            <a:r>
              <a:rPr lang="en-ZW" sz="1100" dirty="0"/>
              <a:t> and </a:t>
            </a:r>
            <a:r>
              <a:rPr lang="en-ZW" sz="1100" b="1" dirty="0"/>
              <a:t>TN </a:t>
            </a:r>
            <a:r>
              <a:rPr lang="en-ZW" sz="1100" b="1" dirty="0" err="1"/>
              <a:t>CyberTech</a:t>
            </a:r>
            <a:r>
              <a:rPr lang="en-ZW" sz="1100" dirty="0"/>
              <a:t> with improved content, FAQs, and internal linking.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1944</Words>
  <Application>Microsoft Macintosh PowerPoint</Application>
  <PresentationFormat>Widescreen</PresentationFormat>
  <Paragraphs>535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Lato</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ReportGen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 15, 2026 - Jul 15, 2026 report</dc:title>
  <dc:subject>Analytics report</dc:subject>
  <dc:creator>ReportGen</dc:creator>
  <cp:lastModifiedBy>Alex Naccy</cp:lastModifiedBy>
  <cp:revision>3</cp:revision>
  <dcterms:created xsi:type="dcterms:W3CDTF">2026-07-20T15:58:09Z</dcterms:created>
  <dcterms:modified xsi:type="dcterms:W3CDTF">2026-07-20T16:08:42Z</dcterms:modified>
</cp:coreProperties>
</file>