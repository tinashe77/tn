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71" r:id="rId4"/>
    <p:sldId id="267" r:id="rId5"/>
    <p:sldId id="272" r:id="rId6"/>
    <p:sldId id="273" r:id="rId7"/>
    <p:sldId id="274" r:id="rId8"/>
    <p:sldId id="275" r:id="rId9"/>
    <p:sldId id="276" r:id="rId10"/>
    <p:sldId id="277" r:id="rId11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AED"/>
          </a:solidFill>
        </a:fill>
      </a:tcStyle>
    </a:wholeTbl>
    <a:band1H>
      <a:tcStyle>
        <a:tcBdr/>
        <a:fill>
          <a:solidFill>
            <a:srgbClr val="CCD2D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D2D8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15608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15608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25"/>
    <p:restoredTop sz="94725"/>
  </p:normalViewPr>
  <p:slideViewPr>
    <p:cSldViewPr snapToGrid="0">
      <p:cViewPr>
        <p:scale>
          <a:sx n="153" d="100"/>
          <a:sy n="153" d="100"/>
        </p:scale>
        <p:origin x="304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965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F508B-2D31-DC4A-FC2E-66A9E549A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F3195-E571-6443-8BC3-85FA3D5F27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5566D-7F3B-CD27-218A-4486A7D430D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1EA59A8C-DFD1-462C-B94E-40569A5CDF0F}" type="slidenum">
              <a:t>1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E9167-B127-049A-DE8F-C5CC5F6B4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CED57-C7D5-9515-6C18-86EC1A5660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4F71D-025D-A1F4-065C-6F686D6C961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06DC8997-AE77-4F37-B642-FB25EACB840C}" type="slidenum">
              <a:t>2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B3F90-BCE4-00FB-FFF3-465B806C5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1FC06-2905-F75C-2922-FDDED49D9F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4D856-D037-D04A-38C3-FDE1EAFC978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E8C9D864-7552-4521-9C48-E79B7CAC0952}" type="slidenum">
              <a:t>3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7DC02-F1CD-3143-5C0E-B66069743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56332-F2AF-4F26-B7AC-1F2034869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808D15-76AB-B1D1-B462-6EAEDB33AE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C3D73F4D-E552-48BC-A90D-D42294072534}" type="slidenum">
              <a:t>4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0EED5-596A-8281-6376-EF201A722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A2775C-C6C4-BB74-DE68-247770ACD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EBFD66-1A0F-A042-BE74-4D9196EBA3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31908-3EE0-0C4A-B675-2573FDA2C0F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C3D73F4D-E552-48BC-A90D-D42294072534}" type="slidenum">
              <a:t>5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279566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87D81-DF5B-6D80-E805-CA2AE2174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0FD662-ED83-603A-2816-2804A9831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7F5D6F-2D1C-F1D9-8B2D-126C567B28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BBA73-871F-47B7-4DFE-9122662F3DE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E8C9D864-7552-4521-9C48-E79B7CAC0952}" type="slidenum">
              <a:t>6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09864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A6BF3-21CC-3B0A-8929-923A36D4C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88FF03-D9DA-14F1-145C-F1811FDE9C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1EEAB3-BC46-0B6B-F1B5-C9DF1ED424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FE64A-B93B-FAF0-8D1E-810431239EA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E8C9D864-7552-4521-9C48-E79B7CAC0952}" type="slidenum">
              <a:t>7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5831085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AE24E-E196-6787-3C21-B087991AE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AAF56D-0335-4BDA-D0EB-FD53F9235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796A16-27C9-D681-F626-F0D43A47A8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85099-DA62-BEB3-EC20-0D24A13D1E2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C3D73F4D-E552-48BC-A90D-D42294072534}" type="slidenum">
              <a:t>8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546052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43897-C29C-3BEA-0B62-17619AEC3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ECEBC4-7148-16FF-4375-8EBB2B576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7B11A9-77EC-2D1D-CD5F-5ED6776210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17BED-D9D3-A4C5-136B-0F85ABCBD7E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C3D73F4D-E552-48BC-A90D-D42294072534}" type="slidenum">
              <a:t>9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716519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315F5-FB46-7AF4-2F9C-18EB6F671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F05C0C-EBE5-E3AB-1FE1-D1E1A3E09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792A9A-9FE4-D6C4-0165-DDA8387479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E0730-7CD6-BFF6-1E62-6C59FCA46F2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fld id="{E8C9D864-7552-4521-9C48-E79B7CAC0952}" type="slidenum">
              <a:t>10</a:t>
            </a:fld>
            <a:endParaRPr lang="en-US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288713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296554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E2D7631D-40A5-FAE8-23AF-EFF18130935D}"/>
              </a:ext>
            </a:extLst>
          </p:cNvPr>
          <p:cNvSpPr/>
          <p:nvPr/>
        </p:nvSpPr>
        <p:spPr>
          <a:xfrm>
            <a:off x="308271" y="190496"/>
            <a:ext cx="2265160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3875BD8-8CD2-1070-065E-183A2F1DBA89}"/>
              </a:ext>
            </a:extLst>
          </p:cNvPr>
          <p:cNvSpPr/>
          <p:nvPr/>
        </p:nvSpPr>
        <p:spPr>
          <a:xfrm>
            <a:off x="2044199" y="2268196"/>
            <a:ext cx="5055602" cy="12573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algn="ctr">
              <a:lnSpc>
                <a:spcPts val="495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500" b="1" kern="0" spc="-24" dirty="0">
                <a:solidFill>
                  <a:srgbClr val="0E0E0E"/>
                </a:solidFill>
                <a:latin typeface="Fraunces"/>
                <a:ea typeface="Fraunces"/>
                <a:cs typeface="Fraunces" pitchFamily="34"/>
              </a:rPr>
              <a:t>TN </a:t>
            </a:r>
            <a:r>
              <a:rPr lang="en-US" sz="4500" b="1" kern="0" spc="-24" dirty="0" err="1">
                <a:solidFill>
                  <a:srgbClr val="0E0E0E"/>
                </a:solidFill>
                <a:latin typeface="Fraunces"/>
                <a:ea typeface="Fraunces"/>
                <a:cs typeface="Fraunces" pitchFamily="34"/>
              </a:rPr>
              <a:t>CyberTech</a:t>
            </a:r>
            <a:r>
              <a:rPr lang="en-US" sz="4500" b="1" kern="0" spc="-24" dirty="0">
                <a:solidFill>
                  <a:srgbClr val="0E0E0E"/>
                </a:solidFill>
                <a:latin typeface="Fraunces"/>
                <a:ea typeface="Fraunces"/>
                <a:cs typeface="Fraunces" pitchFamily="34"/>
              </a:rPr>
              <a:t> Bank Website</a:t>
            </a:r>
            <a:r>
              <a:rPr lang="en-US" sz="4500" b="1" i="0" u="none" strike="noStrike" kern="0" cap="none" spc="-24" baseline="0" dirty="0">
                <a:solidFill>
                  <a:srgbClr val="0E0E0E"/>
                </a:solidFill>
                <a:uFillTx/>
                <a:latin typeface="Fraunces"/>
                <a:ea typeface="Fraunces"/>
                <a:cs typeface="Fraunces" pitchFamily="34"/>
              </a:rPr>
              <a:t> Report</a:t>
            </a:r>
          </a:p>
          <a:p>
            <a:pPr algn="ctr">
              <a:lnSpc>
                <a:spcPts val="495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1" kern="0" spc="-24" dirty="0">
              <a:solidFill>
                <a:srgbClr val="0E0E0E"/>
              </a:solidFill>
              <a:latin typeface="Fraunces"/>
              <a:ea typeface="Fraunces"/>
            </a:endParaRPr>
          </a:p>
        </p:txBody>
      </p:sp>
      <p:pic>
        <p:nvPicPr>
          <p:cNvPr id="1026" name="Picture 2" descr="TN CyberTech Bank">
            <a:extLst>
              <a:ext uri="{FF2B5EF4-FFF2-40B4-BE49-F238E27FC236}">
                <a16:creationId xmlns:a16="http://schemas.microsoft.com/office/drawing/2014/main" id="{0F11DA85-AC77-12D6-8D91-C14AFEF6B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8439" y="884097"/>
            <a:ext cx="2625065" cy="92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118104F7-13E0-58A5-16B9-0874848C6F23}"/>
              </a:ext>
            </a:extLst>
          </p:cNvPr>
          <p:cNvSpPr/>
          <p:nvPr/>
        </p:nvSpPr>
        <p:spPr>
          <a:xfrm>
            <a:off x="4519440" y="545947"/>
            <a:ext cx="4281485" cy="4190521"/>
          </a:xfrm>
          <a:custGeom>
            <a:avLst>
              <a:gd name="f0" fmla="val 894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237862" tIns="494717" rIns="237862" bIns="494717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19E90F2-7F73-FB8E-0821-96926623D564}"/>
              </a:ext>
            </a:extLst>
          </p:cNvPr>
          <p:cNvSpPr/>
          <p:nvPr/>
        </p:nvSpPr>
        <p:spPr>
          <a:xfrm>
            <a:off x="483991" y="838203"/>
            <a:ext cx="3524253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Site Overview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EE2288C-6B85-E124-9BC1-F40B6AE0235E}"/>
              </a:ext>
            </a:extLst>
          </p:cNvPr>
          <p:cNvSpPr/>
          <p:nvPr/>
        </p:nvSpPr>
        <p:spPr>
          <a:xfrm>
            <a:off x="308271" y="190496"/>
            <a:ext cx="3929249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A65BCA3-0016-2995-8B52-76AADFF0DC89}"/>
              </a:ext>
            </a:extLst>
          </p:cNvPr>
          <p:cNvSpPr/>
          <p:nvPr/>
        </p:nvSpPr>
        <p:spPr>
          <a:xfrm>
            <a:off x="624908" y="1567510"/>
            <a:ext cx="3625307" cy="214817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kern="0" dirty="0">
                <a:solidFill>
                  <a:srgbClr val="0E0E0E"/>
                </a:solidFill>
                <a:latin typeface="DM Sans"/>
                <a:ea typeface="DM Sans" pitchFamily="34"/>
                <a:cs typeface="DM Sans" pitchFamily="34"/>
              </a:rPr>
              <a:t>The </a:t>
            </a:r>
            <a:r>
              <a:rPr lang="en-US" sz="1100" b="0" i="0" u="none" strike="noStrike" kern="0" cap="none" spc="0" baseline="0" dirty="0">
                <a:solidFill>
                  <a:srgbClr val="0E0E0E"/>
                </a:solidFill>
                <a:uFillTx/>
                <a:latin typeface="DM Sans"/>
                <a:ea typeface="DM Sans" pitchFamily="34"/>
                <a:cs typeface="DM Sans" pitchFamily="34"/>
              </a:rPr>
              <a:t>large line chart on the right displays the key metrics for the </a:t>
            </a:r>
            <a:r>
              <a:rPr lang="en-US" sz="1100" kern="0" dirty="0">
                <a:solidFill>
                  <a:srgbClr val="0E0E0E"/>
                </a:solidFill>
                <a:latin typeface="DM Sans"/>
                <a:ea typeface="DM Sans" pitchFamily="34"/>
                <a:cs typeface="DM Sans" pitchFamily="34"/>
              </a:rPr>
              <a:t>TN </a:t>
            </a:r>
            <a:r>
              <a:rPr lang="en-US" sz="1100" kern="0" dirty="0" err="1">
                <a:solidFill>
                  <a:srgbClr val="0E0E0E"/>
                </a:solidFill>
                <a:latin typeface="DM Sans"/>
                <a:ea typeface="DM Sans" pitchFamily="34"/>
                <a:cs typeface="DM Sans" pitchFamily="34"/>
              </a:rPr>
              <a:t>CyberTech</a:t>
            </a:r>
            <a:r>
              <a:rPr lang="en-US" sz="1100" kern="0" dirty="0">
                <a:solidFill>
                  <a:srgbClr val="0E0E0E"/>
                </a:solidFill>
                <a:latin typeface="DM Sans"/>
                <a:ea typeface="DM Sans" pitchFamily="34"/>
                <a:cs typeface="DM Sans" pitchFamily="34"/>
              </a:rPr>
              <a:t> Bank </a:t>
            </a:r>
            <a:r>
              <a:rPr lang="en-US" sz="1100" b="0" i="0" u="none" strike="noStrike" kern="0" cap="none" spc="0" baseline="0" dirty="0">
                <a:solidFill>
                  <a:srgbClr val="0E0E0E"/>
                </a:solidFill>
                <a:uFillTx/>
                <a:latin typeface="DM Sans"/>
                <a:ea typeface="DM Sans" pitchFamily="34"/>
                <a:cs typeface="DM Sans" pitchFamily="34"/>
              </a:rPr>
              <a:t>website in the last 30 days.</a:t>
            </a:r>
            <a:endParaRPr lang="en-US" sz="1100" b="0" i="0" u="none" strike="noStrike" kern="0" cap="none" spc="0" baseline="0" dirty="0">
              <a:solidFill>
                <a:srgbClr val="0E0E0E"/>
              </a:solidFill>
              <a:uFillTx/>
              <a:latin typeface="DM Sans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It shows: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100" b="0" i="0" u="none" strike="noStrike" kern="1200" cap="none" spc="0" baseline="0" dirty="0">
              <a:solidFill>
                <a:srgbClr val="000000"/>
              </a:solidFill>
              <a:uFillTx/>
              <a:latin typeface="DM Sans" pitchFamily="2"/>
            </a:endParaRPr>
          </a:p>
          <a:p>
            <a:pPr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</a:t>
            </a:r>
            <a:r>
              <a:rPr lang="en-US" sz="1100" b="1" dirty="0">
                <a:solidFill>
                  <a:srgbClr val="000000"/>
                </a:solidFill>
                <a:latin typeface="DM Sans"/>
              </a:rPr>
              <a:t>Total </a:t>
            </a:r>
            <a:r>
              <a:rPr lang="en-US" sz="11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Users :</a:t>
            </a:r>
            <a:r>
              <a:rPr lang="en-US" sz="1100" b="1" dirty="0">
                <a:solidFill>
                  <a:srgbClr val="000000"/>
                </a:solidFill>
                <a:latin typeface="DM Sans"/>
              </a:rPr>
              <a:t> 2.6K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users visited the site.</a:t>
            </a:r>
          </a:p>
          <a:p>
            <a:pPr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Returning Users :</a:t>
            </a:r>
            <a:r>
              <a:rPr lang="en-US" sz="1100" b="1" dirty="0">
                <a:solidFill>
                  <a:srgbClr val="000000"/>
                </a:solidFill>
                <a:latin typeface="DM Sans"/>
              </a:rPr>
              <a:t> 2K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users who visited the site for the first time.</a:t>
            </a:r>
          </a:p>
          <a:p>
            <a:pPr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Average Engagement Time :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Users spent an average of</a:t>
            </a:r>
            <a:r>
              <a:rPr lang="en-US" sz="1100" dirty="0">
                <a:solidFill>
                  <a:srgbClr val="000000"/>
                </a:solidFill>
                <a:latin typeface="DM Sans"/>
              </a:rPr>
              <a:t> </a:t>
            </a:r>
            <a:r>
              <a:rPr lang="en-US" sz="1100" b="1" dirty="0">
                <a:solidFill>
                  <a:srgbClr val="000000"/>
                </a:solidFill>
                <a:latin typeface="DM Sans"/>
              </a:rPr>
              <a:t>1m 39s</a:t>
            </a:r>
            <a:r>
              <a:rPr lang="en-US" sz="1100" b="0" i="0" u="none" strike="noStrike" kern="1200" cap="none" spc="0" baseline="0" dirty="0">
                <a:solidFill>
                  <a:srgbClr val="000000"/>
                </a:solidFill>
                <a:uFillTx/>
                <a:latin typeface="DM Sans"/>
              </a:rPr>
              <a:t> seconds on the site.</a:t>
            </a:r>
          </a:p>
          <a:p>
            <a:pPr marL="0" marR="0" lvl="0" indent="0" algn="l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FB7A3E7-6CEF-BB3B-119B-0A5FA6E39D59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kern="0" spc="-12" dirty="0">
              <a:solidFill>
                <a:srgbClr val="000000"/>
              </a:solidFill>
              <a:latin typeface="DM Sans"/>
              <a:ea typeface="DM Sans" pitchFamily="34"/>
              <a:cs typeface="DM Sans" pitchFamily="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58BDED-5257-F3F3-0D86-013333EA8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196" y="1376423"/>
            <a:ext cx="4225971" cy="23906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EBF2FB8-D023-1008-8219-5028C68E5ACA}"/>
              </a:ext>
            </a:extLst>
          </p:cNvPr>
          <p:cNvSpPr/>
          <p:nvPr/>
        </p:nvSpPr>
        <p:spPr>
          <a:xfrm>
            <a:off x="3920738" y="704331"/>
            <a:ext cx="5123202" cy="3852531"/>
          </a:xfrm>
          <a:custGeom>
            <a:avLst>
              <a:gd name="f0" fmla="val 29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455124" tIns="282595" rIns="455124" bIns="282595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9179365-AF2E-E64F-7EEA-4B75CB3EA338}"/>
              </a:ext>
            </a:extLst>
          </p:cNvPr>
          <p:cNvSpPr/>
          <p:nvPr/>
        </p:nvSpPr>
        <p:spPr>
          <a:xfrm>
            <a:off x="475030" y="361431"/>
            <a:ext cx="8193472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Pages Sessions</a:t>
            </a:r>
            <a:endParaRPr lang="en-US" sz="22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29AE8A4-967B-A454-AD61-1A99DD7B5D67}"/>
              </a:ext>
            </a:extLst>
          </p:cNvPr>
          <p:cNvSpPr/>
          <p:nvPr/>
        </p:nvSpPr>
        <p:spPr>
          <a:xfrm>
            <a:off x="308271" y="190496"/>
            <a:ext cx="4467072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85DDBF73-7EBA-B55E-7FA6-F822D573F6C1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93391A-9B99-A8E2-85C1-F78E42659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514" y="1197272"/>
            <a:ext cx="4987426" cy="3007280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83CE4727-BFD0-1B38-36AB-38ABB6D7D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1556089"/>
            <a:ext cx="392073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homepage ("/") dominates traffic, bringing in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63.5% of total views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over 90% of users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making it the main entry point.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/about page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the second most visited, but traffic drops significantly after the homepage.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Mobile banking-related pages collectively get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moderate interest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but each individual page has relatively low engagement.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Pages like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/management-team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/board-of-directors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have 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longer engagement times (1m30s+)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meaning users who visit them are more interested.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7F9DD7-5BF0-0C35-9A89-B0F9E2B79D6A}"/>
              </a:ext>
            </a:extLst>
          </p:cNvPr>
          <p:cNvSpPr/>
          <p:nvPr/>
        </p:nvSpPr>
        <p:spPr>
          <a:xfrm>
            <a:off x="285751" y="200652"/>
            <a:ext cx="4000500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 dirty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Demographic Overview</a:t>
            </a:r>
            <a:endParaRPr lang="en-US" sz="22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0A0AF96F-5B9F-CE63-DDC4-BC0E9F604848}"/>
              </a:ext>
            </a:extLst>
          </p:cNvPr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330E8B8-0C39-5195-DBBD-F0818214B9E0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B0C893-9F89-FAD7-9BC2-86A9F9001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80" y="721327"/>
            <a:ext cx="8304637" cy="43992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A5CC7E-57DC-A273-8B89-5B6335650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77448E-6A72-7595-65B9-F6747E159E72}"/>
              </a:ext>
            </a:extLst>
          </p:cNvPr>
          <p:cNvSpPr/>
          <p:nvPr/>
        </p:nvSpPr>
        <p:spPr>
          <a:xfrm>
            <a:off x="308271" y="72690"/>
            <a:ext cx="4000500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kern="0" spc="-24" dirty="0">
                <a:solidFill>
                  <a:srgbClr val="0E0E0E"/>
                </a:solidFill>
                <a:latin typeface="Fraunces" pitchFamily="34"/>
                <a:ea typeface="Fraunces" pitchFamily="34"/>
                <a:cs typeface="Fraunces" pitchFamily="34"/>
              </a:rPr>
              <a:t>Tech</a:t>
            </a:r>
            <a:r>
              <a:rPr lang="en-US" sz="2300" b="1" i="0" u="none" strike="noStrike" kern="0" cap="none" spc="-24" baseline="0" dirty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 Overview</a:t>
            </a:r>
            <a:endParaRPr lang="en-US" sz="22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D50D7885-E7C9-313B-9FF8-7851862B3026}"/>
              </a:ext>
            </a:extLst>
          </p:cNvPr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4D66E27-8929-B10D-089A-CE81B59024C2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402F7D-6637-A0B0-1896-32B536252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76" y="475920"/>
            <a:ext cx="8549978" cy="467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890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64B533-66EC-EE56-6E93-C121039B2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312A595-90A6-6C69-DC32-F6DBA217DC75}"/>
              </a:ext>
            </a:extLst>
          </p:cNvPr>
          <p:cNvSpPr/>
          <p:nvPr/>
        </p:nvSpPr>
        <p:spPr>
          <a:xfrm>
            <a:off x="474860" y="437206"/>
            <a:ext cx="8251397" cy="4655276"/>
          </a:xfrm>
          <a:custGeom>
            <a:avLst>
              <a:gd name="f0" fmla="val 29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455124" tIns="282595" rIns="455124" bIns="282595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E925A54-4B82-106F-D2FB-EF6773C447D8}"/>
              </a:ext>
            </a:extLst>
          </p:cNvPr>
          <p:cNvSpPr/>
          <p:nvPr/>
        </p:nvSpPr>
        <p:spPr>
          <a:xfrm>
            <a:off x="59123" y="123886"/>
            <a:ext cx="8193472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 dirty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Traffic Sources</a:t>
            </a:r>
            <a:endParaRPr lang="en-US" sz="22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D21B3C-73F7-F88E-3041-C1EA0247DBFE}"/>
              </a:ext>
            </a:extLst>
          </p:cNvPr>
          <p:cNvSpPr/>
          <p:nvPr/>
        </p:nvSpPr>
        <p:spPr>
          <a:xfrm>
            <a:off x="308271" y="190496"/>
            <a:ext cx="4467072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ED1923E1-D66F-8941-7066-69022542BB41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CCF3F1-A276-313E-CDB1-E410805ED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270" y="466786"/>
            <a:ext cx="7685039" cy="448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282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4F4216-BBA7-69D1-A025-19E6F3123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69F1EE1-6F27-FEFB-6906-C4D042AC23B0}"/>
              </a:ext>
            </a:extLst>
          </p:cNvPr>
          <p:cNvSpPr/>
          <p:nvPr/>
        </p:nvSpPr>
        <p:spPr>
          <a:xfrm>
            <a:off x="2624667" y="123886"/>
            <a:ext cx="6460209" cy="4956114"/>
          </a:xfrm>
          <a:custGeom>
            <a:avLst>
              <a:gd name="f0" fmla="val 29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455124" tIns="282595" rIns="455124" bIns="282595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B2D6C02-2476-6069-D321-0730765171B5}"/>
              </a:ext>
            </a:extLst>
          </p:cNvPr>
          <p:cNvSpPr/>
          <p:nvPr/>
        </p:nvSpPr>
        <p:spPr>
          <a:xfrm>
            <a:off x="59124" y="370596"/>
            <a:ext cx="8193472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 dirty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Events Overview</a:t>
            </a:r>
            <a:endParaRPr lang="en-US" sz="22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CD7BC2B-4266-8373-87F0-164758A5431D}"/>
              </a:ext>
            </a:extLst>
          </p:cNvPr>
          <p:cNvSpPr/>
          <p:nvPr/>
        </p:nvSpPr>
        <p:spPr>
          <a:xfrm>
            <a:off x="308271" y="190496"/>
            <a:ext cx="4467072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5E999D07-48B4-56E2-80A2-84DDE2888237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32F8BC-6325-9E27-C579-2F49DF944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667" y="1031801"/>
            <a:ext cx="6393279" cy="3277772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64F0E87-C63E-401C-E939-E06C54315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4815" y="894339"/>
            <a:ext cx="2699482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Total activity is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80,606 events from 2,623 users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showing good traffic volume overall.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Page views dominate (57%)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meaning most activity is just users browsing pages.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Scroll (16.6%) and session starts (15.3%)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show users are visiting and lightly interacting with content.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 engagement is relatively low (7.7%)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suggesting limited deep interaction.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Clicks are extremely low (0.23%)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indicating users are not taking many actions.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Conversions are almost non-existent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only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 form starts and 1 form submission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recorded.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large portion of users are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new visitors (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first_visit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~83%)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meaning retention may be low.</a:t>
            </a:r>
          </a:p>
        </p:txBody>
      </p:sp>
    </p:spTree>
    <p:extLst>
      <p:ext uri="{BB962C8B-B14F-4D97-AF65-F5344CB8AC3E}">
        <p14:creationId xmlns:p14="http://schemas.microsoft.com/office/powerpoint/2010/main" val="4000267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A72C62-083D-4A06-866E-E82AB8769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4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E700A8-AE52-4017-8C7E-C20956F74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516C1EB-8D62-4BF0-92B5-02E6AE43B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714" cy="514678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A737E5B8-8F31-4942-B159-B213C4D6D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F530DA-C7D1-4968-8F8A-8700C2BB2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906" y="546881"/>
            <a:ext cx="8324514" cy="4049737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F55BE85-A27B-09FB-8D2E-8E471510FEBD}"/>
              </a:ext>
            </a:extLst>
          </p:cNvPr>
          <p:cNvSpPr/>
          <p:nvPr/>
        </p:nvSpPr>
        <p:spPr>
          <a:xfrm>
            <a:off x="898635" y="2213613"/>
            <a:ext cx="2846880" cy="2089664"/>
          </a:xfrm>
          <a:prstGeom prst="rect">
            <a:avLst/>
          </a:prstGeom>
        </p:spPr>
        <p:txBody>
          <a:bodyPr vert="horz" lIns="91440" tIns="45720" rIns="91440" bIns="45720" rtlCol="0" anchor="t" anchorCtr="0" compatLnSpc="1">
            <a:normAutofit/>
          </a:bodyPr>
          <a:lstStyle/>
          <a:p>
            <a:pPr marL="0" marR="0" lvl="0" indent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cap="none" spc="-24" baseline="0">
                <a:uFillTx/>
                <a:latin typeface="+mj-lt"/>
                <a:ea typeface="+mj-ea"/>
                <a:cs typeface="+mj-cs"/>
              </a:rPr>
              <a:t>Performance </a:t>
            </a:r>
            <a:r>
              <a:rPr lang="en-US" sz="3600" b="1" spc="-24">
                <a:latin typeface="+mj-lt"/>
                <a:ea typeface="+mj-ea"/>
                <a:cs typeface="+mj-cs"/>
              </a:rPr>
              <a:t>Overview</a:t>
            </a:r>
            <a:endParaRPr lang="en-US" sz="3600" b="0" i="0" u="none" strike="noStrike" cap="none" spc="0" baseline="0"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8193EF-F12A-AEDE-E503-5BF2190CD0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04" b="3"/>
          <a:stretch>
            <a:fillRect/>
          </a:stretch>
        </p:blipFill>
        <p:spPr>
          <a:xfrm>
            <a:off x="4019363" y="671707"/>
            <a:ext cx="4580374" cy="3793515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9E674541-7035-6049-4F9D-F85DFF4C5ED8}"/>
              </a:ext>
            </a:extLst>
          </p:cNvPr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EE776FB-478F-F93E-47D2-E114745A2C73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688162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0C9852-B032-93D2-DA4A-B7264BA08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981BBA-D547-2830-FB5F-2E52CA305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4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8A2EF7-F49E-3B52-15FD-663B8F74B4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C193E3A-3DC7-AEA4-DEDD-A8554AD4F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714" cy="514678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5030628-E5B4-6B5A-474F-A4A94993E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90D59B-47A6-4AB4-365B-0FEDEDD01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324120-BB1F-A597-245C-F738874C7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906" y="546881"/>
            <a:ext cx="8324514" cy="4049737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B6091EA-EF79-C4AD-05F6-76A892B00D5C}"/>
              </a:ext>
            </a:extLst>
          </p:cNvPr>
          <p:cNvSpPr/>
          <p:nvPr/>
        </p:nvSpPr>
        <p:spPr>
          <a:xfrm>
            <a:off x="898635" y="2213613"/>
            <a:ext cx="2846880" cy="2089664"/>
          </a:xfrm>
          <a:prstGeom prst="rect">
            <a:avLst/>
          </a:prstGeom>
        </p:spPr>
        <p:txBody>
          <a:bodyPr vert="horz" lIns="91440" tIns="45720" rIns="91440" bIns="45720" rtlCol="0" anchor="t" anchorCtr="0" compatLnSpc="1">
            <a:normAutofit/>
          </a:bodyPr>
          <a:lstStyle/>
          <a:p>
            <a:pPr marL="0" marR="0" lvl="0" indent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1" i="0" u="none" strike="noStrike" cap="none" spc="-24" baseline="0" dirty="0">
                <a:uFillTx/>
                <a:latin typeface="+mj-lt"/>
                <a:ea typeface="+mj-ea"/>
                <a:cs typeface="+mj-cs"/>
              </a:rPr>
              <a:t>SEO </a:t>
            </a:r>
            <a:r>
              <a:rPr lang="en-US" sz="3600" b="1" spc="-24" dirty="0">
                <a:latin typeface="+mj-lt"/>
                <a:ea typeface="+mj-ea"/>
                <a:cs typeface="+mj-cs"/>
              </a:rPr>
              <a:t>Results</a:t>
            </a:r>
            <a:endParaRPr lang="en-US" sz="3600" b="0" i="0" u="none" strike="noStrike" cap="none" spc="0" baseline="0" dirty="0"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A99E9C32-7727-5079-274E-849846D14DEE}"/>
              </a:ext>
            </a:extLst>
          </p:cNvPr>
          <p:cNvSpPr/>
          <p:nvPr/>
        </p:nvSpPr>
        <p:spPr>
          <a:xfrm>
            <a:off x="308271" y="190496"/>
            <a:ext cx="3034683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A7C7CC1-10F0-00D8-D913-2A47A945C8C8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0F8218-10BF-1E6D-A54E-3A5F91227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546881"/>
            <a:ext cx="5172420" cy="406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827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A10163-CDEF-A109-3F05-45FA8E6F5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B6F0BFD-1A50-9D73-C6D3-849B92D02721}"/>
              </a:ext>
            </a:extLst>
          </p:cNvPr>
          <p:cNvSpPr/>
          <p:nvPr/>
        </p:nvSpPr>
        <p:spPr>
          <a:xfrm>
            <a:off x="1" y="123886"/>
            <a:ext cx="9084876" cy="4956114"/>
          </a:xfrm>
          <a:custGeom>
            <a:avLst>
              <a:gd name="f0" fmla="val 29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455124" tIns="282595" rIns="455124" bIns="282595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1931F84-00D7-FFB9-52D0-020B1DACC81C}"/>
              </a:ext>
            </a:extLst>
          </p:cNvPr>
          <p:cNvSpPr/>
          <p:nvPr/>
        </p:nvSpPr>
        <p:spPr>
          <a:xfrm>
            <a:off x="245390" y="560590"/>
            <a:ext cx="8193472" cy="3429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300" b="1" i="0" u="none" strike="noStrike" kern="0" cap="none" spc="-24" baseline="0" dirty="0">
                <a:solidFill>
                  <a:srgbClr val="0E0E0E"/>
                </a:solidFill>
                <a:uFillTx/>
                <a:latin typeface="Fraunces" pitchFamily="34"/>
                <a:ea typeface="Fraunces" pitchFamily="34"/>
                <a:cs typeface="Fraunces" pitchFamily="34"/>
              </a:rPr>
              <a:t>Recommendations</a:t>
            </a:r>
            <a:endParaRPr lang="en-US" sz="225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91C7DA6-02A4-CB6B-A9BA-8AD1B660552B}"/>
              </a:ext>
            </a:extLst>
          </p:cNvPr>
          <p:cNvSpPr/>
          <p:nvPr/>
        </p:nvSpPr>
        <p:spPr>
          <a:xfrm>
            <a:off x="308271" y="190496"/>
            <a:ext cx="4467072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25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8C43DED7-33FA-CB91-2961-C488BCEA653A}"/>
              </a:ext>
            </a:extLst>
          </p:cNvPr>
          <p:cNvSpPr/>
          <p:nvPr/>
        </p:nvSpPr>
        <p:spPr>
          <a:xfrm>
            <a:off x="7161873" y="190496"/>
            <a:ext cx="1696376" cy="167618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algn="r">
              <a:lnSpc>
                <a:spcPts val="132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0" cap="none" spc="-12" baseline="0">
              <a:solidFill>
                <a:srgbClr val="000000"/>
              </a:solidFill>
              <a:uFillTx/>
              <a:latin typeface="DM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B7D931-18F1-2DC0-396A-BBB4829D4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289" y="887151"/>
            <a:ext cx="634660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 strong, visible CTAs (e.g. “Open Account”, “Apply Now”) across all key pages.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Simplify forms to 3–5 fields to reduce drop-offs.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sticky buttons on mobile to drive continuous user action.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 interactive tools (e.g. loan calculators) to boost engagement.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Guide users with clear navigation into key services beyond the homepage.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Link related pages to encourage deeper browsing (internal linking).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 mobile speed to reduce bounce rates and increase engagement.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Align ad messaging with landing pages to improve user retention.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Strengthen SEO to drive more qualified, intent-based traffic.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Retarget visitors to improve return visits and conversions.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 trust signals (testimonials, security badges) to increase confidence.</a:t>
            </a:r>
          </a:p>
        </p:txBody>
      </p:sp>
    </p:spTree>
    <p:extLst>
      <p:ext uri="{BB962C8B-B14F-4D97-AF65-F5344CB8AC3E}">
        <p14:creationId xmlns:p14="http://schemas.microsoft.com/office/powerpoint/2010/main" val="724582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3848</TotalTime>
  <Words>434</Words>
  <Application>Microsoft Macintosh PowerPoint</Application>
  <PresentationFormat>On-screen Show (16:9)</PresentationFormat>
  <Paragraphs>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DM Sans</vt:lpstr>
      <vt:lpstr>Fraunces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KENAC 2</dc:title>
  <dc:subject>PptxGenJS Presentation</dc:subject>
  <dc:creator>Pitch Software GmbH</dc:creator>
  <cp:lastModifiedBy>Alex Naccy</cp:lastModifiedBy>
  <cp:revision>1003</cp:revision>
  <dcterms:created xsi:type="dcterms:W3CDTF">2024-08-01T10:01:29Z</dcterms:created>
  <dcterms:modified xsi:type="dcterms:W3CDTF">2026-04-16T09:45:38Z</dcterms:modified>
</cp:coreProperties>
</file>